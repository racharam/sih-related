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slideLayouts/slideLayout8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2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4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4.xml" ContentType="application/vnd.openxmlformats-officedocument.presentationml.notesSlide+xml"/>
  <Override PartName="/ppt/slideLayouts/slideLayout1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 showSpecialPlsOnTitleSld="0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1pPr>
    <a:lvl2pPr marL="4572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>
        <a:solidFill>
          <a:schemeClr val="tx1"/>
        </a:solidFill>
        <a:latin typeface="Calibri"/>
        <a:ea typeface="ＭＳ Ｐゴシック"/>
        <a:cs typeface="+mn-cs"/>
      </a:defRPr>
    </a:lvl5pPr>
    <a:lvl6pPr marL="22860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6pPr>
    <a:lvl7pPr marL="27432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7pPr>
    <a:lvl8pPr marL="32004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8pPr>
    <a:lvl9pPr marL="3657600" algn="l" defTabSz="914400" rtl="0">
      <a:defRPr>
        <a:solidFill>
          <a:schemeClr val="tx1"/>
        </a:solidFill>
        <a:latin typeface="Calibri"/>
        <a:ea typeface="ＭＳ Ｐゴシック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pos="2160" orient="horz"/>
        <p:guide pos="3840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708990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65203152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C4D5ADD5-2BBC-4A94-8F86-D9013941F742}" type="datetimeFigureOut">
              <a:rPr lang="en-US"/>
              <a:t>6/26/2025</a:t>
            </a:fld>
            <a:endParaRPr lang="en-US"/>
          </a:p>
        </p:txBody>
      </p:sp>
      <p:sp>
        <p:nvSpPr>
          <p:cNvPr id="1769323886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>
              <a:defRPr/>
            </a:pPr>
            <a:endParaRPr lang="en-US"/>
          </a:p>
        </p:txBody>
      </p:sp>
      <p:sp>
        <p:nvSpPr>
          <p:cNvPr id="1443100331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7850963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79541074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/>
          </a:bodyPr>
          <a:lstStyle>
            <a:lvl1pPr algn="r">
              <a:defRPr sz="1200"/>
            </a:lvl1pPr>
          </a:lstStyle>
          <a:p>
            <a:pPr>
              <a:defRPr/>
            </a:pPr>
            <a:fld id="{EC790738-CFC9-4A5E-8424-6B42AA5706F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ＭＳ Ｐゴシック"/>
      </a:defRPr>
    </a:lvl1pPr>
    <a:lvl2pPr marL="4572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2pPr>
    <a:lvl3pPr marL="9144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3pPr>
    <a:lvl4pPr marL="13716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4pPr>
    <a:lvl5pPr marL="1828800" algn="l" defTabSz="457200" rtl="0">
      <a:spcBef>
        <a:spcPts val="0"/>
      </a:spcBef>
      <a:spcAft>
        <a:spcPts val="0"/>
      </a:spcAft>
      <a:defRPr sz="1200">
        <a:solidFill>
          <a:schemeClr val="tx1"/>
        </a:solidFill>
        <a:latin typeface="+mn-lt"/>
        <a:ea typeface="ＭＳ Ｐゴシック"/>
        <a:cs typeface="+mn-cs"/>
      </a:defRPr>
    </a:lvl5pPr>
    <a:lvl6pPr marL="22860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785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34255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436627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72D5D-A5D3-EC4C-71F8-0F2010A88A5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1112161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5806877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866628347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65F62A7E-A2F8-438F-9CF8-47DE63F471B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7213898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7760777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918540871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fld id="{0CA7B74D-3791-4AC6-8451-F10DBCCCDD9A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054789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78889845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563643998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4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223050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4203261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67930827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5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0741846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035167466" name="Notes Placeholder 2"/>
          <p:cNvSpPr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  <a:noFill/>
        </p:spPr>
        <p:txBody>
          <a:bodyPr wrap="square" numCol="1" anchor="t" anchorCtr="0" compatLnSpc="1">
            <a:prstTxWarp prst="textNoShape"/>
          </a:bodyPr>
          <a:lstStyle/>
          <a:p>
            <a:pPr>
              <a:spcBef>
                <a:spcPts val="0"/>
              </a:spcBef>
              <a:defRPr/>
            </a:pPr>
            <a:endParaRPr lang="en-US">
              <a:ea typeface="ＭＳ Ｐゴシック"/>
            </a:endParaRPr>
          </a:p>
        </p:txBody>
      </p:sp>
      <p:sp>
        <p:nvSpPr>
          <p:cNvPr id="145771957" name="Slide Number Placeholder 3"/>
          <p:cNvSpPr>
            <a:spLocks noGrp="1"/>
          </p:cNvSpPr>
          <p:nvPr>
            <p:ph type="sldNum" sz="quarter" idx="5"/>
          </p:nvPr>
        </p:nvSpPr>
        <p:spPr bwMode="auto"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CA7B74D-3791-4AC6-8451-F10DBCCCDD9A}" type="slidenum">
              <a:rPr lang="en-US" sz="1200" b="0" i="0" u="none" strike="noStrike" cap="none" spc="0">
                <a:ln>
                  <a:noFill/>
                </a:ln>
                <a:solidFill>
                  <a:prstClr val="black"/>
                </a:solidFill>
                <a:latin typeface="Calibri"/>
                <a:ea typeface="ＭＳ Ｐゴシック"/>
                <a:cs typeface="+mn-cs"/>
              </a:rPr>
              <a:t>6</a:t>
            </a:fld>
            <a:endParaRPr lang="en-US" sz="1200" b="0" i="0" u="none" strike="noStrike" cap="none" spc="0">
              <a:ln>
                <a:noFill/>
              </a:ln>
              <a:solidFill>
                <a:prstClr val="black"/>
              </a:solidFill>
              <a:latin typeface="Calibri"/>
              <a:ea typeface="ＭＳ Ｐゴシック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501647" name="Title 1"/>
          <p:cNvSpPr>
            <a:spLocks noGrp="1"/>
          </p:cNvSpPr>
          <p:nvPr>
            <p:ph type="ctrTitle"/>
          </p:nvPr>
        </p:nvSpPr>
        <p:spPr bwMode="auto">
          <a:xfrm>
            <a:off x="914400" y="2130428"/>
            <a:ext cx="10363200" cy="1470025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62984813" name="Subtitle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59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/>
          </a:p>
        </p:txBody>
      </p:sp>
      <p:sp>
        <p:nvSpPr>
          <p:cNvPr id="20512448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60792E3-D524-454C-8AFD-A91972900BCB}" type="datetime1">
              <a:rPr lang="en-US"/>
              <a:t>6/26/2025</a:t>
            </a:fld>
            <a:endParaRPr lang="en-US"/>
          </a:p>
        </p:txBody>
      </p:sp>
      <p:sp>
        <p:nvSpPr>
          <p:cNvPr id="45802453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3893734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5B7E1BAA-A38D-40DE-B22C-DF9BD7D8205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815351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91207263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00615909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08B7524-32A2-4C20-A58C-BC3BAA1042FC}" type="datetime1">
              <a:rPr lang="en-US"/>
              <a:t>6/26/2025</a:t>
            </a:fld>
            <a:endParaRPr lang="en-US"/>
          </a:p>
        </p:txBody>
      </p:sp>
      <p:sp>
        <p:nvSpPr>
          <p:cNvPr id="196329368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3557667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77C3CE7-23F7-4828-823C-E0205DF2CF9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57671843" name="Title 1"/>
          <p:cNvSpPr>
            <a:spLocks noGrp="1"/>
          </p:cNvSpPr>
          <p:nvPr>
            <p:ph type="title"/>
          </p:nvPr>
        </p:nvSpPr>
        <p:spPr bwMode="auto"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7789281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125581954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E994447-D6B2-43BB-A877-57F1A267B999}" type="datetime1">
              <a:rPr lang="en-US"/>
              <a:t>6/26/2025</a:t>
            </a:fld>
            <a:endParaRPr lang="en-US"/>
          </a:p>
        </p:txBody>
      </p:sp>
      <p:sp>
        <p:nvSpPr>
          <p:cNvPr id="171216376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80375728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41DB31D2-2A87-4F4C-A9AD-05C6CC2B321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88956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23524827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64339983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34398723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8920E16-BD35-483C-AA6B-346FC7E46DEA}" type="datetime1">
              <a:rPr lang="en-US"/>
              <a:t>6/26/2025</a:t>
            </a:fld>
            <a:endParaRPr lang="en-US"/>
          </a:p>
        </p:txBody>
      </p:sp>
      <p:sp>
        <p:nvSpPr>
          <p:cNvPr id="8123874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6318985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1FC16D9-1635-4844-816A-0A8A2160FADA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68898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37578944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541065021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307176268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66213904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6075808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EAC6F8-5103-4FC0-A69E-5C6AE6469DA8}" type="datetime1">
              <a:rPr lang="en-US"/>
              <a:t>6/26/2025</a:t>
            </a:fld>
            <a:endParaRPr lang="en-US"/>
          </a:p>
        </p:txBody>
      </p:sp>
      <p:sp>
        <p:nvSpPr>
          <p:cNvPr id="69342662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0343726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71C4100A-98DE-4944-910A-A93F5CA9F72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4311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767693445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60C6921-0627-4C8F-83D5-0CF936D2FFDD}" type="datetime1">
              <a:rPr lang="en-US"/>
              <a:t>6/26/2025</a:t>
            </a:fld>
            <a:endParaRPr lang="en-US"/>
          </a:p>
        </p:txBody>
      </p:sp>
      <p:sp>
        <p:nvSpPr>
          <p:cNvPr id="16730997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8304784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6A63342B-5A73-45DC-864D-086DE78037E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617047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FF08AD7-8103-40F8-983C-E2BA6BB9CBE0}" type="datetime1">
              <a:rPr lang="en-US"/>
              <a:t>6/26/2025</a:t>
            </a:fld>
            <a:endParaRPr lang="en-US"/>
          </a:p>
        </p:txBody>
      </p:sp>
      <p:sp>
        <p:nvSpPr>
          <p:cNvPr id="6854887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67340293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B635AFB3-1ACD-44AC-8702-86B1729DF03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3335755" name="Title 1"/>
          <p:cNvSpPr>
            <a:spLocks noGrp="1"/>
          </p:cNvSpPr>
          <p:nvPr>
            <p:ph type="title"/>
          </p:nvPr>
        </p:nvSpPr>
        <p:spPr bwMode="auto"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950375197" name="Content Placeholder 2"/>
          <p:cNvSpPr>
            <a:spLocks noGrp="1"/>
          </p:cNvSpPr>
          <p:nvPr>
            <p:ph idx="1"/>
          </p:nvPr>
        </p:nvSpPr>
        <p:spPr bwMode="auto">
          <a:xfrm>
            <a:off x="4766732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580113241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4119767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DF8C06B4-9380-4A4D-AF49-A3596E17DAF5}" type="datetime1">
              <a:rPr lang="en-US"/>
              <a:t>6/26/2025</a:t>
            </a:fld>
            <a:endParaRPr lang="en-US"/>
          </a:p>
        </p:txBody>
      </p:sp>
      <p:sp>
        <p:nvSpPr>
          <p:cNvPr id="107201055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86115278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CF15F3-5E77-4C57-9E21-50D6D1D6C02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557336" name="Title 1"/>
          <p:cNvSpPr>
            <a:spLocks noGrp="1"/>
          </p:cNvSpPr>
          <p:nvPr>
            <p:ph type="title"/>
          </p:nvPr>
        </p:nvSpPr>
        <p:spPr bwMode="auto"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22270432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en-US"/>
          </a:p>
        </p:txBody>
      </p:sp>
      <p:sp>
        <p:nvSpPr>
          <p:cNvPr id="20679738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8900736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EF7FDEF1-C582-4E22-9E77-D68326471F28}" type="datetime1">
              <a:rPr lang="en-US"/>
              <a:t>6/26/2025</a:t>
            </a:fld>
            <a:endParaRPr lang="en-US"/>
          </a:p>
        </p:txBody>
      </p:sp>
      <p:sp>
        <p:nvSpPr>
          <p:cNvPr id="146535442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73495157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1242169A-B3C7-4FB6-967F-AF95F4EB331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9611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46202664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89837936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053C3A68-6922-42D3-8905-ECC2D82A3469}" type="datetime1">
              <a:rPr lang="en-US"/>
              <a:t>6/26/2025</a:t>
            </a:fld>
            <a:endParaRPr lang="en-US"/>
          </a:p>
        </p:txBody>
      </p:sp>
      <p:sp>
        <p:nvSpPr>
          <p:cNvPr id="1345580634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21395561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94FDD027-5576-4F27-AAB6-1D994836EE7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3134954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41"/>
            <a:ext cx="2743200" cy="5851525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032758526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41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14252986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CB69E9F4-7604-4950-A8B2-8ACDEDB1506E}" type="datetime1">
              <a:rPr lang="en-US"/>
              <a:t>6/26/2025</a:t>
            </a:fld>
            <a:endParaRPr lang="en-US"/>
          </a:p>
        </p:txBody>
      </p:sp>
      <p:sp>
        <p:nvSpPr>
          <p:cNvPr id="88214317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43425706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fld id="{2957CE61-8714-431B-A40A-01B1C5541AB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9645684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title style</a:t>
            </a:r>
            <a:endParaRPr/>
          </a:p>
        </p:txBody>
      </p:sp>
      <p:sp>
        <p:nvSpPr>
          <p:cNvPr id="180366935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/>
          </a:p>
        </p:txBody>
      </p:sp>
      <p:sp>
        <p:nvSpPr>
          <p:cNvPr id="2116337764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780A9602-A9A9-453F-AEF1-37B5837E02CD}" type="datetime1">
              <a:rPr lang="en-US"/>
              <a:t>6/26/2025</a:t>
            </a:fld>
            <a:endParaRPr lang="en-US"/>
          </a:p>
        </p:txBody>
      </p:sp>
      <p:sp>
        <p:nvSpPr>
          <p:cNvPr id="97840967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  <a:endParaRPr/>
          </a:p>
        </p:txBody>
      </p:sp>
      <p:sp>
        <p:nvSpPr>
          <p:cNvPr id="1265831517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</a:defRPr>
            </a:lvl1pPr>
          </a:lstStyle>
          <a:p>
            <a:pPr>
              <a:defRPr/>
            </a:pPr>
            <a:fld id="{1411BA53-830D-4830-BB65-E58DBE17D0B7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1"/>
  <p:txStyles>
    <p:titleStyle>
      <a:lvl1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2pPr>
      <a:lvl3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3pPr>
      <a:lvl4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4pPr>
      <a:lvl5pPr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5pPr>
      <a:lvl6pPr marL="4572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6pPr>
      <a:lvl7pPr marL="9144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7pPr>
      <a:lvl8pPr marL="13716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8pPr>
      <a:lvl9pPr marL="1828800" algn="ctr" defTabSz="457200" rtl="0">
        <a:spcBef>
          <a:spcPts val="0"/>
        </a:spcBef>
        <a:spcAft>
          <a:spcPts val="0"/>
        </a:spcAft>
        <a:defRPr sz="4400">
          <a:solidFill>
            <a:schemeClr val="tx1"/>
          </a:solidFill>
          <a:latin typeface="TradeGothic"/>
          <a:ea typeface="ＭＳ Ｐゴシック"/>
          <a:cs typeface="ＭＳ Ｐゴシック"/>
        </a:defRPr>
      </a:lvl9pPr>
    </p:titleStyle>
    <p:bodyStyle>
      <a:lvl1pPr marL="342900" indent="-342900" algn="l" defTabSz="457200" rtl="0">
        <a:spcBef>
          <a:spcPts val="0"/>
        </a:spcBef>
        <a:spcAft>
          <a:spcPts val="0"/>
        </a:spcAft>
        <a:buFont typeface="Arial"/>
        <a:buChar char="•"/>
        <a:defRPr sz="3200">
          <a:solidFill>
            <a:schemeClr val="tx1"/>
          </a:solidFill>
          <a:latin typeface="TradeGothic"/>
          <a:ea typeface="ＭＳ Ｐゴシック"/>
          <a:cs typeface="ＭＳ Ｐゴシック"/>
        </a:defRPr>
      </a:lvl1pPr>
      <a:lvl2pPr marL="742950" indent="-285750" algn="l" defTabSz="457200" rtl="0">
        <a:spcBef>
          <a:spcPts val="0"/>
        </a:spcBef>
        <a:spcAft>
          <a:spcPts val="0"/>
        </a:spcAft>
        <a:buFont typeface="Arial"/>
        <a:buChar char="–"/>
        <a:defRPr sz="2800">
          <a:solidFill>
            <a:schemeClr val="tx1"/>
          </a:solidFill>
          <a:latin typeface="TradeGothic"/>
          <a:ea typeface="ＭＳ Ｐゴシック"/>
          <a:cs typeface="+mn-cs"/>
        </a:defRPr>
      </a:lvl2pPr>
      <a:lvl3pPr marL="1143000" indent="-228600" algn="l" defTabSz="457200" rtl="0">
        <a:spcBef>
          <a:spcPts val="0"/>
        </a:spcBef>
        <a:spcAft>
          <a:spcPts val="0"/>
        </a:spcAft>
        <a:buFont typeface="Arial"/>
        <a:buChar char="•"/>
        <a:defRPr sz="2400">
          <a:solidFill>
            <a:schemeClr val="tx1"/>
          </a:solidFill>
          <a:latin typeface="TradeGothic"/>
          <a:ea typeface="ＭＳ Ｐゴシック"/>
          <a:cs typeface="+mn-cs"/>
        </a:defRPr>
      </a:lvl3pPr>
      <a:lvl4pPr marL="1600200" indent="-228600" algn="l" defTabSz="457200" rtl="0">
        <a:spcBef>
          <a:spcPts val="0"/>
        </a:spcBef>
        <a:spcAft>
          <a:spcPts val="0"/>
        </a:spcAft>
        <a:buFont typeface="Arial"/>
        <a:buChar char="–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4pPr>
      <a:lvl5pPr marL="2057400" indent="-228600" algn="l" defTabSz="457200" rtl="0">
        <a:spcBef>
          <a:spcPts val="0"/>
        </a:spcBef>
        <a:spcAft>
          <a:spcPts val="0"/>
        </a:spcAft>
        <a:buFont typeface="Arial"/>
        <a:buChar char="»"/>
        <a:defRPr sz="2000">
          <a:solidFill>
            <a:schemeClr val="tx1"/>
          </a:solidFill>
          <a:latin typeface="TradeGothic"/>
          <a:ea typeface="ＭＳ Ｐゴシック"/>
          <a:cs typeface="+mn-cs"/>
        </a:defRPr>
      </a:lvl5pPr>
      <a:lvl6pPr marL="25146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 useBgFill="1">
        <p:nvSpPr>
          <p:cNvPr id="1332835400" name="Rectangle 2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30054679" name="Freeform: Shape 2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 fill="norm" stroke="1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/>
          </a:p>
        </p:txBody>
      </p:sp>
      <p:pic>
        <p:nvPicPr>
          <p:cNvPr id="1557361645" name="Picture 4"/>
          <p:cNvPicPr>
            <a:picLocks noChangeAspect="1"/>
          </p:cNvPicPr>
          <p:nvPr/>
        </p:nvPicPr>
        <p:blipFill>
          <a:blip r:embed="rId3"/>
          <a:srcRect l="0" t="0" r="59916" b="0"/>
          <a:stretch/>
        </p:blipFill>
        <p:spPr bwMode="auto"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63481927" name="Subtitle 3"/>
          <p:cNvSpPr>
            <a:spLocks noGrp="1"/>
          </p:cNvSpPr>
          <p:nvPr>
            <p:ph type="subTitle" idx="1"/>
          </p:nvPr>
        </p:nvSpPr>
        <p:spPr bwMode="auto">
          <a:xfrm>
            <a:off x="1245686" y="648614"/>
            <a:ext cx="8534400" cy="1752599"/>
          </a:xfrm>
        </p:spPr>
        <p:txBody>
          <a:bodyPr/>
          <a:lstStyle/>
          <a:p>
            <a:pPr>
              <a:defRPr/>
            </a:pPr>
            <a:endParaRPr lang="en-US" b="1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b="1">
                <a:solidFill>
                  <a:schemeClr val="tx1"/>
                </a:solidFill>
                <a:latin typeface="Times New Roman"/>
                <a:cs typeface="Times New Roman"/>
              </a:rPr>
              <a:t>TITLE PAGE</a:t>
            </a:r>
            <a:endParaRPr lang="en-IN" b="1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1613308841" name="Title 7"/>
          <p:cNvSpPr>
            <a:spLocks noGrp="1"/>
          </p:cNvSpPr>
          <p:nvPr>
            <p:ph type="ctrTitle"/>
          </p:nvPr>
        </p:nvSpPr>
        <p:spPr bwMode="auto">
          <a:xfrm>
            <a:off x="331286" y="-526757"/>
            <a:ext cx="10363200" cy="2076450"/>
          </a:xfrm>
        </p:spPr>
        <p:txBody>
          <a:bodyPr/>
          <a:lstStyle/>
          <a:p>
            <a:pPr>
              <a:defRPr/>
            </a:pPr>
            <a:r>
              <a:rPr lang="en-US" sz="4000" b="1">
                <a:solidFill>
                  <a:schemeClr val="tx2"/>
                </a:solidFill>
                <a:latin typeface="Garamond"/>
              </a:rPr>
              <a:t>SMART INDIA HACKATHON </a:t>
            </a:r>
            <a:r>
              <a:rPr lang="en-US" sz="4000" b="1">
                <a:solidFill>
                  <a:schemeClr val="tx2"/>
                </a:solidFill>
                <a:latin typeface="Garamond"/>
              </a:rPr>
              <a:t>2025</a:t>
            </a:r>
            <a:endParaRPr lang="en-IN" sz="4000" b="1">
              <a:solidFill>
                <a:schemeClr val="tx2"/>
              </a:solidFill>
              <a:latin typeface="Garamond"/>
            </a:endParaRPr>
          </a:p>
        </p:txBody>
      </p:sp>
      <p:sp>
        <p:nvSpPr>
          <p:cNvPr id="1686177025" name="TextBox 9"/>
          <p:cNvSpPr txBox="1"/>
          <p:nvPr/>
        </p:nvSpPr>
        <p:spPr bwMode="auto">
          <a:xfrm flipH="0" flipV="0">
            <a:off x="331285" y="2076449"/>
            <a:ext cx="6549524" cy="4694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en-US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>
                <a:latin typeface="Arial"/>
                <a:cs typeface="Arial"/>
              </a:rPr>
              <a:t>Problem Statement ID –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25013</a:t>
            </a:r>
            <a:endParaRPr sz="2000"/>
          </a:p>
          <a:p>
            <a:pPr marL="285750" indent="-285750" algn="l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>
                <a:latin typeface="Arial"/>
                <a:cs typeface="Arial"/>
              </a:rPr>
              <a:t>Problem Statement 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000" b="1">
                <a:latin typeface="Arial"/>
                <a:cs typeface="Arial"/>
              </a:rPr>
              <a:t> </a:t>
            </a:r>
            <a:r>
              <a:rPr lang="en-US" sz="2000" b="0">
                <a:latin typeface="Arial"/>
                <a:cs typeface="Arial"/>
              </a:rPr>
              <a:t>Title-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Real-Time Public Transport Tracking for Small Cities</a:t>
            </a:r>
            <a:endParaRPr sz="2000" b="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>
                <a:latin typeface="Arial"/>
                <a:cs typeface="Arial"/>
              </a:rPr>
              <a:t>Theme 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000" b="1">
                <a:latin typeface="Arial"/>
                <a:cs typeface="Arial"/>
              </a:rPr>
              <a:t> </a:t>
            </a:r>
            <a:r>
              <a:rPr lang="en-US" sz="2000" b="0">
                <a:latin typeface="Arial"/>
                <a:cs typeface="Arial"/>
              </a:rPr>
              <a:t>Transport &amp; Logistics</a:t>
            </a:r>
            <a:endParaRPr sz="200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>
                <a:latin typeface="Arial"/>
                <a:cs typeface="Arial"/>
              </a:rPr>
              <a:t>PS Category 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000" b="0">
                <a:latin typeface="Arial"/>
                <a:cs typeface="Arial"/>
              </a:rPr>
              <a:t> Software</a:t>
            </a:r>
            <a:endParaRPr sz="2000" b="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000" b="1">
                <a:latin typeface="Arial"/>
                <a:cs typeface="Arial"/>
              </a:rPr>
              <a:t>Team ID 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000" b="1">
                <a:latin typeface="Arial"/>
                <a:cs typeface="Arial"/>
              </a:rPr>
              <a:t> </a:t>
            </a:r>
            <a:r>
              <a:rPr lang="en-US" sz="2000" b="0">
                <a:latin typeface="Arial"/>
                <a:cs typeface="Arial"/>
              </a:rPr>
              <a:t>43</a:t>
            </a:r>
            <a:endParaRPr b="0"/>
          </a:p>
          <a:p>
            <a:pPr marL="285750" indent="-285750" algn="just">
              <a:lnSpc>
                <a:spcPct val="200000"/>
              </a:lnSpc>
              <a:buFont typeface="Arial"/>
              <a:buChar char="•"/>
              <a:defRPr/>
            </a:pPr>
            <a:r>
              <a:rPr lang="en-US" sz="2200" b="1">
                <a:latin typeface="Arial"/>
                <a:cs typeface="Arial"/>
              </a:rPr>
              <a:t>Team Name </a:t>
            </a:r>
            <a:r>
              <a:rPr lang="en-US" sz="22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2200" b="0">
                <a:latin typeface="Arial"/>
                <a:cs typeface="Arial"/>
              </a:rPr>
              <a:t> NUVIRA</a:t>
            </a:r>
            <a:endParaRPr lang="en-IN" sz="2400" b="1">
              <a:latin typeface="Arial"/>
              <a:cs typeface="Arial"/>
            </a:endParaRPr>
          </a:p>
        </p:txBody>
      </p:sp>
      <p:pic>
        <p:nvPicPr>
          <p:cNvPr id="1482002287" name="Picture 2" descr="https://www.sih.gov.in/img1/SIH-Logo.png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098554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223009342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182997" y="0"/>
            <a:ext cx="10972800" cy="871435"/>
          </a:xfrm>
        </p:spPr>
        <p:txBody>
          <a:bodyPr/>
          <a:lstStyle/>
          <a:p>
            <a:pPr>
              <a:defRPr/>
            </a:pPr>
            <a:br>
              <a:rPr lang="en-US" sz="3600" b="1">
                <a:latin typeface="Times New Roman"/>
                <a:ea typeface="ＭＳ Ｐゴシック"/>
                <a:cs typeface="Times New Roman"/>
              </a:rPr>
            </a:br>
            <a:r>
              <a:rPr lang="en-US" sz="3600" b="1">
                <a:latin typeface="Times New Roman"/>
                <a:ea typeface="ＭＳ Ｐゴシック"/>
                <a:cs typeface="Times New Roman"/>
              </a:rPr>
              <a:t>SMART </a:t>
            </a:r>
            <a:r>
              <a:rPr lang="en-US" sz="3600" b="1" i="0" u="none" strike="noStrike" cap="none" spc="0">
                <a:solidFill>
                  <a:schemeClr val="tx1"/>
                </a:solidFill>
                <a:latin typeface="Arial"/>
                <a:ea typeface="Arial"/>
                <a:cs typeface="Arial"/>
              </a:rPr>
              <a:t>–</a:t>
            </a:r>
            <a:r>
              <a:rPr lang="en-US" sz="3600" b="1">
                <a:latin typeface="Times New Roman"/>
                <a:ea typeface="ＭＳ Ｐゴシック"/>
                <a:cs typeface="Times New Roman"/>
              </a:rPr>
              <a:t> BUS</a:t>
            </a:r>
            <a:endParaRPr/>
          </a:p>
        </p:txBody>
      </p:sp>
      <p:sp>
        <p:nvSpPr>
          <p:cNvPr id="194158836" name="TextBox 8"/>
          <p:cNvSpPr txBox="1">
            <a:spLocks noChangeArrowheads="1"/>
          </p:cNvSpPr>
          <p:nvPr/>
        </p:nvSpPr>
        <p:spPr bwMode="auto">
          <a:xfrm>
            <a:off x="0" y="2064920"/>
            <a:ext cx="12192358" cy="366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51971325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t>2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2106882424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199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sz="1200" b="0" i="0" u="none" strike="noStrike" cap="none" spc="0">
                <a:solidFill>
                  <a:schemeClr val="bg1"/>
                </a:solidFill>
                <a:latin typeface="TradeGothic"/>
                <a:ea typeface="+mn-ea"/>
                <a:cs typeface="+mn-cs"/>
              </a:rPr>
              <a:t>@SIH Idea submission</a:t>
            </a:r>
            <a:endParaRPr sz="1200">
              <a:solidFill>
                <a:schemeClr val="bg1"/>
              </a:solidFill>
            </a:endParaRPr>
          </a:p>
          <a:p>
            <a:pPr>
              <a:defRPr/>
            </a:pPr>
            <a:endParaRPr lang="en-US">
              <a:solidFill>
                <a:schemeClr val="bg1"/>
              </a:solidFill>
            </a:endParaRPr>
          </a:p>
        </p:txBody>
      </p:sp>
      <p:sp>
        <p:nvSpPr>
          <p:cNvPr id="2016949742" name="Oval 9" descr="Your startup LOGO"/>
          <p:cNvSpPr/>
          <p:nvPr/>
        </p:nvSpPr>
        <p:spPr bwMode="auto">
          <a:xfrm flipH="0" flipV="0">
            <a:off x="329772" y="252245"/>
            <a:ext cx="1354375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NUVIRA</a:t>
            </a:r>
            <a:endParaRPr lang="en-IN"/>
          </a:p>
        </p:txBody>
      </p:sp>
      <p:pic>
        <p:nvPicPr>
          <p:cNvPr id="365460797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sp>
        <p:nvSpPr>
          <p:cNvPr id="1246395810" name=""/>
          <p:cNvSpPr txBox="1"/>
          <p:nvPr/>
        </p:nvSpPr>
        <p:spPr bwMode="auto">
          <a:xfrm rot="0" flipH="0" flipV="0">
            <a:off x="182997" y="1465228"/>
            <a:ext cx="5206346" cy="31702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Proposed Solution Highlights:</a:t>
            </a:r>
            <a:endParaRPr sz="2200"/>
          </a:p>
          <a:p>
            <a:pPr marL="305908" indent="-305908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Mobile app with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3 portals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(Passenger, Driver, Admin).</a:t>
            </a:r>
            <a:endParaRPr sz="2000"/>
          </a:p>
          <a:p>
            <a:pPr marL="305908" indent="-305908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Real-time GPS bus tracking.</a:t>
            </a:r>
            <a:endParaRPr sz="2000"/>
          </a:p>
          <a:p>
            <a:pPr marL="305908" indent="-305908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AI-powered ETA 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 (Google Maps Traffic API).</a:t>
            </a:r>
            <a:endParaRPr sz="2000"/>
          </a:p>
          <a:p>
            <a:pPr marL="305908" indent="-305908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SOS emergencies 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   (Medical, Police, Women Safety, Breakdown).</a:t>
            </a:r>
            <a:endParaRPr sz="2000"/>
          </a:p>
          <a:p>
            <a:pPr marL="305908" indent="-305908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Passenger ratings (bus, driver, experience).</a:t>
            </a:r>
            <a:endParaRPr sz="2000"/>
          </a:p>
          <a:p>
            <a:pPr marL="305908" indent="-305908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Rural-friendly flashy UI with animations.</a:t>
            </a:r>
            <a:endParaRPr/>
          </a:p>
        </p:txBody>
      </p:sp>
      <p:sp>
        <p:nvSpPr>
          <p:cNvPr id="1924764461" name=""/>
          <p:cNvSpPr txBox="1"/>
          <p:nvPr/>
        </p:nvSpPr>
        <p:spPr bwMode="auto">
          <a:xfrm rot="0" flipH="0" flipV="0">
            <a:off x="182996" y="4736837"/>
            <a:ext cx="2683334" cy="13414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Innovation:</a:t>
            </a:r>
            <a:endParaRPr sz="2600"/>
          </a:p>
          <a:p>
            <a:pPr marL="305908" indent="-305908">
              <a:buFont typeface="Wingdings"/>
              <a:buChar char="§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Multi-portal design.</a:t>
            </a:r>
            <a:endParaRPr sz="2600"/>
          </a:p>
          <a:p>
            <a:pPr marL="305908" indent="-305908">
              <a:buFont typeface="Wingdings"/>
              <a:buChar char="§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SOS escalation logic.</a:t>
            </a:r>
            <a:endParaRPr sz="2600"/>
          </a:p>
          <a:p>
            <a:pPr marL="305908" indent="-305908">
              <a:buFont typeface="Wingdings"/>
              <a:buChar char="§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Analytics for admins.</a:t>
            </a:r>
            <a:endParaRPr sz="2600"/>
          </a:p>
        </p:txBody>
      </p:sp>
      <p:pic>
        <p:nvPicPr>
          <p:cNvPr id="23602509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790070" y="140392"/>
            <a:ext cx="7959288" cy="59379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0904315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97005304" name="Title 1"/>
          <p:cNvSpPr>
            <a:spLocks noGrp="1"/>
          </p:cNvSpPr>
          <p:nvPr>
            <p:ph type="title"/>
          </p:nvPr>
        </p:nvSpPr>
        <p:spPr bwMode="auto">
          <a:xfrm flipH="0" flipV="0">
            <a:off x="609599" y="-47623"/>
            <a:ext cx="10972800" cy="1020390"/>
          </a:xfrm>
        </p:spPr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TECHNICAL APPROACH</a:t>
            </a:r>
            <a:endParaRPr/>
          </a:p>
        </p:txBody>
      </p:sp>
      <p:sp>
        <p:nvSpPr>
          <p:cNvPr id="123246003" name="TextBox 8"/>
          <p:cNvSpPr txBox="1">
            <a:spLocks noChangeArrowheads="1"/>
          </p:cNvSpPr>
          <p:nvPr/>
        </p:nvSpPr>
        <p:spPr bwMode="auto">
          <a:xfrm>
            <a:off x="528536" y="2533653"/>
            <a:ext cx="9385659" cy="3661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endParaRPr/>
          </a:p>
        </p:txBody>
      </p:sp>
      <p:sp>
        <p:nvSpPr>
          <p:cNvPr id="32594523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77C3CE7-23F7-4828-823C-E0205DF2CF97}" type="slidenum">
              <a:rPr lang="en-US" b="1">
                <a:solidFill>
                  <a:schemeClr val="bg1"/>
                </a:solidFill>
              </a:rPr>
              <a:t>3</a:t>
            </a:fld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1310064341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199" y="6423818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197433706" name="Oval 10" descr="Your startup LOGO"/>
          <p:cNvSpPr/>
          <p:nvPr/>
        </p:nvSpPr>
        <p:spPr bwMode="auto">
          <a:xfrm flipH="0" flipV="0">
            <a:off x="433839" y="57096"/>
            <a:ext cx="1475666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NUVIRA</a:t>
            </a:r>
            <a:endParaRPr lang="en-IN"/>
          </a:p>
        </p:txBody>
      </p:sp>
      <p:pic>
        <p:nvPicPr>
          <p:cNvPr id="164770964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sp>
        <p:nvSpPr>
          <p:cNvPr id="103428524" name=""/>
          <p:cNvSpPr txBox="1"/>
          <p:nvPr/>
        </p:nvSpPr>
        <p:spPr bwMode="auto">
          <a:xfrm rot="0" flipH="0" flipV="0">
            <a:off x="995106" y="1945531"/>
            <a:ext cx="914400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115839620" name=""/>
          <p:cNvSpPr/>
          <p:nvPr/>
        </p:nvSpPr>
        <p:spPr bwMode="auto">
          <a:xfrm flipH="0" flipV="0">
            <a:off x="285796" y="864429"/>
            <a:ext cx="5616083" cy="2042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2200" b="1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Tech Stack</a:t>
            </a:r>
            <a:endParaRPr sz="26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Frontend: Flutter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Backend: Flask (Python REST + SocketIO)</a:t>
            </a:r>
            <a:endParaRPr sz="26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Database: MongoDB</a:t>
            </a:r>
            <a:r>
              <a:rPr sz="2600"/>
              <a:t> / </a:t>
            </a:r>
            <a:r>
              <a:rPr sz="2000"/>
              <a:t>supabase</a:t>
            </a:r>
            <a:endParaRPr sz="26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Maps: Google Maps API</a:t>
            </a:r>
            <a:endParaRPr sz="2600"/>
          </a:p>
          <a:p>
            <a:pPr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Auth: Firebase</a:t>
            </a:r>
            <a:endParaRPr/>
          </a:p>
        </p:txBody>
      </p:sp>
      <p:sp>
        <p:nvSpPr>
          <p:cNvPr id="755673464" name=""/>
          <p:cNvSpPr txBox="1"/>
          <p:nvPr/>
        </p:nvSpPr>
        <p:spPr bwMode="auto">
          <a:xfrm rot="0" flipH="0" flipV="0">
            <a:off x="285796" y="300192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pic>
        <p:nvPicPr>
          <p:cNvPr id="202964921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158846" y="2636469"/>
            <a:ext cx="4261003" cy="3902445"/>
          </a:xfrm>
          <a:prstGeom prst="rect">
            <a:avLst/>
          </a:prstGeom>
        </p:spPr>
      </p:pic>
      <p:pic>
        <p:nvPicPr>
          <p:cNvPr id="707630480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027862" y="1276349"/>
            <a:ext cx="5095874" cy="49720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5997238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152747318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FEASIBILITY AND VIABILITY</a:t>
            </a:r>
            <a:endParaRPr/>
          </a:p>
        </p:txBody>
      </p:sp>
      <p:sp>
        <p:nvSpPr>
          <p:cNvPr id="1992218906" name="TextBox 8"/>
          <p:cNvSpPr txBox="1">
            <a:spLocks noChangeArrowheads="1"/>
          </p:cNvSpPr>
          <p:nvPr/>
        </p:nvSpPr>
        <p:spPr bwMode="auto">
          <a:xfrm flipH="0" flipV="0">
            <a:off x="329772" y="1192172"/>
            <a:ext cx="7424696" cy="22558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sz="2200" b="1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FEASIBILITY</a:t>
            </a:r>
            <a:endParaRPr sz="2600"/>
          </a:p>
          <a:p>
            <a:pPr marL="305908" indent="-305908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Feasible with existing tech (Google Maps + Firebase).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Optimized for low-bandwidth 3G/4G.</a:t>
            </a:r>
            <a:endParaRPr sz="2600"/>
          </a:p>
          <a:p>
            <a:pPr marL="305908" indent="-305908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Scalable for future Scope.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Add </a:t>
            </a: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multi-language support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(Hindi, Punjabi, Telugu, etc.).</a:t>
            </a:r>
            <a:endParaRPr sz="2600"/>
          </a:p>
          <a:p>
            <a:pPr marL="705958" lvl="1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AI-powered route optimization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(predict delays, suggest alternate buses).</a:t>
            </a:r>
            <a:endParaRPr sz="3600"/>
          </a:p>
        </p:txBody>
      </p:sp>
      <p:sp>
        <p:nvSpPr>
          <p:cNvPr id="192397173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4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588789137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sp>
        <p:nvSpPr>
          <p:cNvPr id="56814417" name="Oval 11" descr="Your startup LOGO"/>
          <p:cNvSpPr/>
          <p:nvPr/>
        </p:nvSpPr>
        <p:spPr bwMode="auto">
          <a:xfrm flipH="0" flipV="0">
            <a:off x="329772" y="214862"/>
            <a:ext cx="1394907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NUVIRA</a:t>
            </a:r>
            <a:endParaRPr lang="en-IN"/>
          </a:p>
        </p:txBody>
      </p:sp>
      <p:pic>
        <p:nvPicPr>
          <p:cNvPr id="1371715248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pic>
        <p:nvPicPr>
          <p:cNvPr id="184774458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89840" y="736859"/>
            <a:ext cx="5623754" cy="5384280"/>
          </a:xfrm>
          <a:prstGeom prst="rect">
            <a:avLst/>
          </a:prstGeom>
        </p:spPr>
      </p:pic>
      <p:sp>
        <p:nvSpPr>
          <p:cNvPr id="69907857" name=""/>
          <p:cNvSpPr txBox="1"/>
          <p:nvPr/>
        </p:nvSpPr>
        <p:spPr bwMode="auto">
          <a:xfrm rot="0" flipH="0" flipV="0">
            <a:off x="167644" y="3587073"/>
            <a:ext cx="7075154" cy="22558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2200" b="1" i="0" u="sng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Strategies to overcome those challenges</a:t>
            </a:r>
            <a:r>
              <a:rPr lang="en-US" sz="2000" b="0" i="0" u="sng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:</a:t>
            </a:r>
            <a:endParaRPr sz="2000" b="0" i="0" u="sng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>
              <a:defRPr/>
            </a:pPr>
            <a:endParaRPr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- Simple driver interface</a:t>
            </a:r>
            <a:endParaRPr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- Offline caching &amp; low-data mode</a:t>
            </a:r>
            <a:endParaRPr sz="2000" b="0" i="0" u="none" strike="noStrike" cap="none" spc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- AI ETA + static fallback</a:t>
            </a:r>
            <a:endParaRPr sz="2000">
              <a:latin typeface="Times New Roman"/>
              <a:cs typeface="Times New Roman"/>
            </a:endParaRPr>
          </a:p>
          <a:p>
            <a:pPr marL="705958" lvl="1" indent="-305908">
              <a:buFont typeface="Arial"/>
              <a:buChar char="•"/>
              <a:defRPr/>
            </a:pP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If 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(GPS/Internet)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isn’t available the app doesn’t just “break”.</a:t>
            </a:r>
            <a:b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</a:b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Instead, it 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falls back to static, pre-stored data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</a:t>
            </a:r>
            <a:endParaRPr sz="20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2513137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428864694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IMPACT AND BENEFITS</a:t>
            </a:r>
            <a:endParaRPr/>
          </a:p>
        </p:txBody>
      </p:sp>
      <p:sp>
        <p:nvSpPr>
          <p:cNvPr id="66156005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5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1776684044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sp>
        <p:nvSpPr>
          <p:cNvPr id="1674356659" name="Oval 11" descr="Your startup LOGO"/>
          <p:cNvSpPr/>
          <p:nvPr/>
        </p:nvSpPr>
        <p:spPr bwMode="auto">
          <a:xfrm flipH="0" flipV="0">
            <a:off x="329772" y="120207"/>
            <a:ext cx="1394907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NUVIRA</a:t>
            </a:r>
            <a:endParaRPr lang="en-IN"/>
          </a:p>
        </p:txBody>
      </p:sp>
      <p:pic>
        <p:nvPicPr>
          <p:cNvPr id="185599912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  <p:sp>
        <p:nvSpPr>
          <p:cNvPr id="1384610344" name=""/>
          <p:cNvSpPr txBox="1"/>
          <p:nvPr/>
        </p:nvSpPr>
        <p:spPr bwMode="auto">
          <a:xfrm rot="0" flipH="0" flipV="0">
            <a:off x="133348" y="1179964"/>
            <a:ext cx="5299572" cy="134147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1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IMPACT</a:t>
            </a:r>
            <a:endParaRPr sz="2600"/>
          </a:p>
          <a:p>
            <a:pPr marL="305908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Commuters: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Save time, reliable &amp; Safe travel.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Drivers: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Better coordination.</a:t>
            </a:r>
            <a:endParaRPr sz="2600"/>
          </a:p>
          <a:p>
            <a:pPr marL="305908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Govt: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Data-driven planning.</a:t>
            </a:r>
            <a:endParaRPr sz="2600"/>
          </a:p>
        </p:txBody>
      </p:sp>
      <p:pic>
        <p:nvPicPr>
          <p:cNvPr id="88202587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355249" y="770931"/>
            <a:ext cx="5124535" cy="4553020"/>
          </a:xfrm>
          <a:prstGeom prst="rect">
            <a:avLst/>
          </a:prstGeom>
        </p:spPr>
      </p:pic>
      <p:sp>
        <p:nvSpPr>
          <p:cNvPr id="44607045" name=""/>
          <p:cNvSpPr txBox="1"/>
          <p:nvPr/>
        </p:nvSpPr>
        <p:spPr bwMode="auto">
          <a:xfrm rot="0" flipH="0" flipV="0">
            <a:off x="0" y="2895041"/>
            <a:ext cx="7852919" cy="26521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200" b="1" i="0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Business Potentials of SmartBus</a:t>
            </a:r>
            <a:endParaRPr sz="2200" b="1" i="0" u="sng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Scalable Product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Once developed, the same system can be replicated to hundreds of cities with minimal changes.</a:t>
            </a:r>
            <a:endParaRPr sz="2600"/>
          </a:p>
          <a:p>
            <a:pPr marL="305908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Data as a Service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Provide valuable transport analytics to government bodies for planning new routes and reducing congestion</a:t>
            </a:r>
            <a:endParaRPr sz="2000" b="0" i="0" u="none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sz="2000" b="1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In-App Revenue</a:t>
            </a:r>
            <a:r>
              <a:rPr sz="2000" b="0" i="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 – Ads from local businesses (shops, hospitals, services near bus stops).</a:t>
            </a:r>
            <a:endParaRPr sz="3600" b="1" i="0" u="sng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  <a:p>
            <a:pPr marL="371994" indent="-371994">
              <a:buFont typeface="Arial"/>
              <a:buChar char="•"/>
              <a:defRPr/>
            </a:pPr>
            <a:endParaRPr sz="2600" b="0" u="none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8236031" name="Rectangle 9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srgbClr val="C0504D">
                  <a:lumMod val="75000"/>
                </a:srgbClr>
              </a:solidFill>
              <a:latin typeface="Calibri"/>
              <a:ea typeface="ＭＳ Ｐゴシック"/>
              <a:cs typeface="+mn-cs"/>
            </a:endParaRPr>
          </a:p>
        </p:txBody>
      </p:sp>
      <p:sp>
        <p:nvSpPr>
          <p:cNvPr id="179065988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sz="3600" b="1">
                <a:latin typeface="Times New Roman"/>
                <a:ea typeface="ＭＳ Ｐゴシック"/>
                <a:cs typeface="Times New Roman"/>
              </a:rPr>
              <a:t>RESEARCH  AND REFERENCES</a:t>
            </a:r>
            <a:endParaRPr/>
          </a:p>
        </p:txBody>
      </p:sp>
      <p:sp>
        <p:nvSpPr>
          <p:cNvPr id="1283335409" name="TextBox 8"/>
          <p:cNvSpPr txBox="1">
            <a:spLocks noChangeArrowheads="1"/>
          </p:cNvSpPr>
          <p:nvPr/>
        </p:nvSpPr>
        <p:spPr bwMode="auto">
          <a:xfrm flipH="0" flipV="0">
            <a:off x="704849" y="1097099"/>
            <a:ext cx="10137269" cy="466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05908" indent="-305908" algn="just">
              <a:buFont typeface="Arial"/>
              <a:buChar char="•"/>
              <a:defRPr/>
            </a:pPr>
            <a:r>
              <a:rPr lang="en-US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Sundar, S., et al., "Real-Time Bus Tracking Using GPS,"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International Journal of Advanced Research in Computer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and Communication Engineering (IJARCCE), vol. 6, no.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5, pp. 3225–3230, 2017.</a:t>
            </a:r>
            <a:endParaRPr/>
          </a:p>
          <a:p>
            <a:pPr algn="just"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05908" indent="-305908" algn="just"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Khan, M. A., et al., 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"GPS and GSM Based Bus Tracking,"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IEEE International Conference on Communication and 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Signal Processing (ICCSN), 2016</a:t>
            </a:r>
            <a:endParaRPr lang="en-U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algn="just"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Carol L. Schweiger, 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“Real-Time Bus Arrival Information Systems - A Synthesis of Transit Practice”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Transportation Research Board, 2003</a:t>
            </a:r>
            <a:endParaRPr lang="en-U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  <a:p>
            <a:pPr marL="305908" indent="-305908"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Brendan Kidwell, 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“Predicting Transit Vehicle Arrival Times”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, GeoGraphics Laboratory, Bridgewater State</a:t>
            </a:r>
            <a:endParaRPr lang="en-U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defRPr/>
            </a:pPr>
            <a:endParaRPr lang="en-U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  <a:p>
            <a:pPr marL="305908" indent="-305908" algn="just">
              <a:buFont typeface="Arial"/>
              <a:buChar char="•"/>
              <a:defRPr/>
            </a:pP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Dr.K.Geetha, Joshva, Manikandan, Manoj , </a:t>
            </a:r>
            <a:r>
              <a:rPr lang="en-US" sz="2000" b="1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“Rural Area Bus Tracking System”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 ,</a:t>
            </a:r>
            <a:r>
              <a:rPr lang="en-US" sz="2000" b="0" i="0" u="none" strike="noStrike" cap="none" spc="0">
                <a:solidFill>
                  <a:schemeClr val="tx1"/>
                </a:solidFill>
                <a:latin typeface="Calibri"/>
                <a:ea typeface="Calibri"/>
                <a:cs typeface="Calibri"/>
              </a:rPr>
              <a:t>IJSART - Volume 11 Issue 5 – MAY 2025 </a:t>
            </a:r>
            <a:endParaRPr lang="en-US" sz="2000" b="0" i="0" u="none" strike="noStrike" cap="none" spc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83100730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 marL="0" marR="0" lvl="0" indent="0" algn="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77C3CE7-23F7-4828-823C-E0205DF2CF97}" type="slidenum">
              <a:rPr lang="en-US" sz="1200" b="1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ＭＳ Ｐゴシック"/>
                <a:cs typeface="+mn-cs"/>
              </a:rPr>
              <a:t>6</a:t>
            </a:fld>
            <a:endParaRPr lang="en-US" sz="1200" b="1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ＭＳ Ｐゴシック"/>
              <a:cs typeface="+mn-cs"/>
            </a:endParaRPr>
          </a:p>
        </p:txBody>
      </p:sp>
      <p:sp>
        <p:nvSpPr>
          <p:cNvPr id="1119160856" name="Footer Placeholder 6"/>
          <p:cNvSpPr>
            <a:spLocks noGrp="1"/>
          </p:cNvSpPr>
          <p:nvPr>
            <p:ph type="ftr" sz="quarter" idx="11"/>
          </p:nvPr>
        </p:nvSpPr>
        <p:spPr bwMode="auto"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0" i="0" u="none" strike="noStrike" cap="none" spc="0">
                <a:ln>
                  <a:noFill/>
                </a:ln>
                <a:solidFill>
                  <a:prstClr val="white"/>
                </a:solidFill>
                <a:latin typeface="TradeGothic"/>
                <a:ea typeface="+mn-ea"/>
                <a:cs typeface="+mn-cs"/>
              </a:rPr>
              <a:t>@SIH Idea submission- Template</a:t>
            </a:r>
            <a:endParaRPr lang="en-US" sz="1200" b="0" i="0" u="none" strike="noStrike" cap="none" spc="0">
              <a:ln>
                <a:noFill/>
              </a:ln>
              <a:solidFill>
                <a:prstClr val="white"/>
              </a:solidFill>
              <a:latin typeface="TradeGothic"/>
              <a:ea typeface="+mn-ea"/>
              <a:cs typeface="+mn-cs"/>
            </a:endParaRPr>
          </a:p>
        </p:txBody>
      </p:sp>
      <p:sp>
        <p:nvSpPr>
          <p:cNvPr id="1463554623" name="Oval 8" descr="Your startup LOGO"/>
          <p:cNvSpPr/>
          <p:nvPr/>
        </p:nvSpPr>
        <p:spPr bwMode="auto">
          <a:xfrm flipH="0" flipV="0">
            <a:off x="329772" y="252245"/>
            <a:ext cx="1455705" cy="807333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/>
              <a:t>NUVIRA</a:t>
            </a:r>
            <a:endParaRPr lang="en-IN"/>
          </a:p>
        </p:txBody>
      </p:sp>
      <p:pic>
        <p:nvPicPr>
          <p:cNvPr id="172626515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ONLYOFFICE/9.0.3.29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Manager/>
  <Company>Crowdfunder, Inc.</Company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/>
  <cp:revision>149</cp:revision>
  <dcterms:created xsi:type="dcterms:W3CDTF">2013-12-12T18:46:50Z</dcterms:created>
  <dcterms:modified xsi:type="dcterms:W3CDTF">2025-09-18T13:32:10Z</dcterms:modified>
  <cp:category/>
</cp:coreProperties>
</file>