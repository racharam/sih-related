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1pPr>
    <a:lvl2pPr marL="4572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2pPr>
    <a:lvl3pPr marL="9144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3pPr>
    <a:lvl4pPr marL="13716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4pPr>
    <a:lvl5pPr marL="18288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5pPr>
    <a:lvl6pPr marL="22860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6pPr>
    <a:lvl7pPr marL="27432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7pPr>
    <a:lvl8pPr marL="32004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8pPr>
    <a:lvl9pPr marL="36576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97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88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70899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6520315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4D5ADD5-2BBC-4A94-8F86-D9013941F742}" type="datetimeFigureOut">
              <a:rPr lang="en-US"/>
              <a:t>9/19/2025</a:t>
            </a:fld>
            <a:endParaRPr lang="en-US"/>
          </a:p>
        </p:txBody>
      </p:sp>
      <p:sp>
        <p:nvSpPr>
          <p:cNvPr id="1769323886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144310033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785096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7954107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493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ＭＳ Ｐゴシック"/>
      </a:defRPr>
    </a:lvl1pPr>
    <a:lvl2pPr marL="4572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2pPr>
    <a:lvl3pPr marL="9144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3pPr>
    <a:lvl4pPr marL="13716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4pPr>
    <a:lvl5pPr marL="18288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5pPr>
    <a:lvl6pPr marL="22860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378566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34255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6627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F72D5D-A5D3-EC4C-71F8-0F2010A88A5F}" type="slidenum">
              <a:rPr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6968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111216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5806877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866628347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65F62A7E-A2F8-438F-9CF8-47DE63F471B4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217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7213898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7760777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918540871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0CA7B74D-3791-4AC6-8451-F10DBCCCDD9A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257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54789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8889845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n-US" dirty="0">
              <a:ea typeface="ＭＳ Ｐゴシック"/>
            </a:endParaRPr>
          </a:p>
        </p:txBody>
      </p:sp>
      <p:sp>
        <p:nvSpPr>
          <p:cNvPr id="563643998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4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3533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230504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4203261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167930827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5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3576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7418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5167466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145771957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6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5604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501647" name="Title 1"/>
          <p:cNvSpPr>
            <a:spLocks noGrp="1"/>
          </p:cNvSpPr>
          <p:nvPr>
            <p:ph type="ctrTitle"/>
          </p:nvPr>
        </p:nvSpPr>
        <p:spPr bwMode="auto">
          <a:xfrm>
            <a:off x="914400" y="2130428"/>
            <a:ext cx="103632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62984813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4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20512448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60792E3-D524-454C-8AFD-A91972900BCB}" type="datetime1">
              <a:rPr lang="en-US"/>
              <a:t>9/19/2025</a:t>
            </a:fld>
            <a:endParaRPr lang="en-US"/>
          </a:p>
        </p:txBody>
      </p:sp>
      <p:sp>
        <p:nvSpPr>
          <p:cNvPr id="4580245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38937341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8153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9120726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061590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708B7524-32A2-4C20-A58C-BC3BAA1042FC}" type="datetime1">
              <a:rPr lang="en-US"/>
              <a:t>9/19/2025</a:t>
            </a:fld>
            <a:endParaRPr lang="en-US"/>
          </a:p>
        </p:txBody>
      </p:sp>
      <p:sp>
        <p:nvSpPr>
          <p:cNvPr id="19632936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35576671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671843" name="Title 1"/>
          <p:cNvSpPr>
            <a:spLocks noGrp="1"/>
          </p:cNvSpPr>
          <p:nvPr>
            <p:ph type="title"/>
          </p:nvPr>
        </p:nvSpPr>
        <p:spPr bwMode="auto"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7789281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255819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1E994447-D6B2-43BB-A877-57F1A267B999}" type="datetime1">
              <a:rPr lang="en-US"/>
              <a:t>9/19/2025</a:t>
            </a:fld>
            <a:endParaRPr lang="en-US"/>
          </a:p>
        </p:txBody>
      </p:sp>
      <p:sp>
        <p:nvSpPr>
          <p:cNvPr id="17121637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8037572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8956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352482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6433998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439872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8920E16-BD35-483C-AA6B-346FC7E46DEA}" type="datetime1">
              <a:rPr lang="en-US"/>
              <a:t>9/19/2025</a:t>
            </a:fld>
            <a:endParaRPr lang="en-US"/>
          </a:p>
        </p:txBody>
      </p:sp>
      <p:sp>
        <p:nvSpPr>
          <p:cNvPr id="812387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6318985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6889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7578944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4106502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0717626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6621390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60758081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FEAC6F8-5103-4FC0-A69E-5C6AE6469DA8}" type="datetime1">
              <a:rPr lang="en-US"/>
              <a:t>9/19/2025</a:t>
            </a:fld>
            <a:endParaRPr lang="en-US"/>
          </a:p>
        </p:txBody>
      </p:sp>
      <p:sp>
        <p:nvSpPr>
          <p:cNvPr id="69342662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0343726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311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6769344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C60C6921-0627-4C8F-83D5-0CF936D2FFDD}" type="datetime1">
              <a:rPr lang="en-US"/>
              <a:t>9/19/2025</a:t>
            </a:fld>
            <a:endParaRPr lang="en-US"/>
          </a:p>
        </p:txBody>
      </p:sp>
      <p:sp>
        <p:nvSpPr>
          <p:cNvPr id="1673099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8304784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61704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FF08AD7-8103-40F8-983C-E2BA6BB9CBE0}" type="datetime1">
              <a:rPr lang="en-US"/>
              <a:t>9/19/2025</a:t>
            </a:fld>
            <a:endParaRPr lang="en-US"/>
          </a:p>
        </p:txBody>
      </p:sp>
      <p:sp>
        <p:nvSpPr>
          <p:cNvPr id="6854887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6734029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3335755" name="Title 1"/>
          <p:cNvSpPr>
            <a:spLocks noGrp="1"/>
          </p:cNvSpPr>
          <p:nvPr>
            <p:ph type="title"/>
          </p:nvPr>
        </p:nvSpPr>
        <p:spPr bwMode="auto"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50375197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8011324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119767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DF8C06B4-9380-4A4D-AF49-A3596E17DAF5}" type="datetime1">
              <a:rPr lang="en-US"/>
              <a:t>9/19/2025</a:t>
            </a:fld>
            <a:endParaRPr lang="en-US"/>
          </a:p>
        </p:txBody>
      </p:sp>
      <p:sp>
        <p:nvSpPr>
          <p:cNvPr id="10720105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86115278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8557336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2270432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en-US"/>
          </a:p>
        </p:txBody>
      </p:sp>
      <p:sp>
        <p:nvSpPr>
          <p:cNvPr id="20679738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900736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F7FDEF1-C582-4E22-9E77-D68326471F28}" type="datetime1">
              <a:rPr lang="en-US"/>
              <a:t>9/19/2025</a:t>
            </a:fld>
            <a:endParaRPr lang="en-US"/>
          </a:p>
        </p:txBody>
      </p:sp>
      <p:sp>
        <p:nvSpPr>
          <p:cNvPr id="14653544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7349515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9611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620266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983793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053C3A68-6922-42D3-8905-ECC2D82A3469}" type="datetime1">
              <a:rPr lang="en-US"/>
              <a:t>9/19/2025</a:t>
            </a:fld>
            <a:endParaRPr lang="en-US"/>
          </a:p>
        </p:txBody>
      </p:sp>
      <p:sp>
        <p:nvSpPr>
          <p:cNvPr id="13455806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21395561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13495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200" y="274641"/>
            <a:ext cx="27432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3275852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600" y="274641"/>
            <a:ext cx="80264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252986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CB69E9F4-7604-4950-A8B2-8ACDEDB1506E}" type="datetime1">
              <a:rPr lang="en-US"/>
              <a:t>9/19/2025</a:t>
            </a:fld>
            <a:endParaRPr lang="en-US"/>
          </a:p>
        </p:txBody>
      </p:sp>
      <p:sp>
        <p:nvSpPr>
          <p:cNvPr id="88214317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4342570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9645684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036693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11633776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/>
              </a:defRPr>
            </a:lvl1pPr>
          </a:lstStyle>
          <a:p>
            <a:pPr>
              <a:defRPr/>
            </a:pPr>
            <a:fld id="{780A9602-A9A9-453F-AEF1-37B5837E02CD}" type="datetime1">
              <a:rPr lang="en-US"/>
              <a:t>9/19/2025</a:t>
            </a:fld>
            <a:endParaRPr lang="en-US"/>
          </a:p>
        </p:txBody>
      </p:sp>
      <p:sp>
        <p:nvSpPr>
          <p:cNvPr id="97840967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26583151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/>
              </a:defRPr>
            </a:lvl1pPr>
          </a:lstStyle>
          <a:p>
            <a:pPr>
              <a:defRPr/>
            </a:pPr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1pPr>
      <a:lvl2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2pPr>
      <a:lvl3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3pPr>
      <a:lvl4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4pPr>
      <a:lvl5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5pPr>
      <a:lvl6pPr marL="4572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6pPr>
      <a:lvl7pPr marL="9144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7pPr>
      <a:lvl8pPr marL="13716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8pPr>
      <a:lvl9pPr marL="18288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9pPr>
    </p:titleStyle>
    <p:bodyStyle>
      <a:lvl1pPr marL="342900" indent="-342900" algn="l" defTabSz="457200" rtl="0">
        <a:spcBef>
          <a:spcPts val="0"/>
        </a:spcBef>
        <a:spcAft>
          <a:spcPts val="0"/>
        </a:spcAft>
        <a:buFont typeface="Arial"/>
        <a:buChar char="•"/>
        <a:defRPr sz="3200">
          <a:solidFill>
            <a:schemeClr val="tx1"/>
          </a:solidFill>
          <a:latin typeface="TradeGothic"/>
          <a:ea typeface="ＭＳ Ｐゴシック"/>
          <a:cs typeface="ＭＳ Ｐゴシック"/>
        </a:defRPr>
      </a:lvl1pPr>
      <a:lvl2pPr marL="742950" indent="-285750" algn="l" defTabSz="457200" rtl="0">
        <a:spcBef>
          <a:spcPts val="0"/>
        </a:spcBef>
        <a:spcAft>
          <a:spcPts val="0"/>
        </a:spcAft>
        <a:buFont typeface="Arial"/>
        <a:buChar char="–"/>
        <a:defRPr sz="2800">
          <a:solidFill>
            <a:schemeClr val="tx1"/>
          </a:solidFill>
          <a:latin typeface="TradeGothic"/>
          <a:ea typeface="ＭＳ Ｐゴシック"/>
          <a:cs typeface="+mn-cs"/>
        </a:defRPr>
      </a:lvl2pPr>
      <a:lvl3pPr marL="1143000" indent="-228600" algn="l" defTabSz="457200" rtl="0">
        <a:spcBef>
          <a:spcPts val="0"/>
        </a:spcBef>
        <a:spcAft>
          <a:spcPts val="0"/>
        </a:spcAft>
        <a:buFont typeface="Arial"/>
        <a:buChar char="•"/>
        <a:defRPr sz="2400">
          <a:solidFill>
            <a:schemeClr val="tx1"/>
          </a:solidFill>
          <a:latin typeface="TradeGothic"/>
          <a:ea typeface="ＭＳ Ｐゴシック"/>
          <a:cs typeface="+mn-cs"/>
        </a:defRPr>
      </a:lvl3pPr>
      <a:lvl4pPr marL="1600200" indent="-228600" algn="l" defTabSz="457200" rtl="0">
        <a:spcBef>
          <a:spcPts val="0"/>
        </a:spcBef>
        <a:spcAft>
          <a:spcPts val="0"/>
        </a:spcAft>
        <a:buFont typeface="Arial"/>
        <a:buChar char="–"/>
        <a:defRPr sz="2000">
          <a:solidFill>
            <a:schemeClr val="tx1"/>
          </a:solidFill>
          <a:latin typeface="TradeGothic"/>
          <a:ea typeface="ＭＳ Ｐゴシック"/>
          <a:cs typeface="+mn-cs"/>
        </a:defRPr>
      </a:lvl4pPr>
      <a:lvl5pPr marL="2057400" indent="-228600" algn="l" defTabSz="457200" rtl="0">
        <a:spcBef>
          <a:spcPts val="0"/>
        </a:spcBef>
        <a:spcAft>
          <a:spcPts val="0"/>
        </a:spcAft>
        <a:buFont typeface="Arial"/>
        <a:buChar char="»"/>
        <a:defRPr sz="2000">
          <a:solidFill>
            <a:schemeClr val="tx1"/>
          </a:solidFill>
          <a:latin typeface="TradeGothic"/>
          <a:ea typeface="ＭＳ Ｐゴシック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martbus-transport.netlify.app/" TargetMode="External"/><Relationship Id="rId4" Type="http://schemas.openxmlformats.org/officeDocument/2006/relationships/hyperlink" Target="https://www.ijert.org/gps-and-gsm-based-real-time-bus-monitoring-syste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1332835400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30054679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US"/>
          </a:p>
        </p:txBody>
      </p:sp>
      <p:pic>
        <p:nvPicPr>
          <p:cNvPr id="1557361645" name="Picture 4"/>
          <p:cNvPicPr>
            <a:picLocks noChangeAspect="1"/>
          </p:cNvPicPr>
          <p:nvPr/>
        </p:nvPicPr>
        <p:blipFill>
          <a:blip r:embed="rId3"/>
          <a:srcRect r="59916"/>
          <a:stretch/>
        </p:blipFill>
        <p:spPr bwMode="auto">
          <a:xfrm>
            <a:off x="6880809" y="1989177"/>
            <a:ext cx="3203509" cy="3426237"/>
          </a:xfrm>
          <a:prstGeom prst="rect">
            <a:avLst/>
          </a:prstGeom>
        </p:spPr>
      </p:pic>
      <p:sp>
        <p:nvSpPr>
          <p:cNvPr id="63481927" name="Subtitle 3"/>
          <p:cNvSpPr>
            <a:spLocks noGrp="1"/>
          </p:cNvSpPr>
          <p:nvPr>
            <p:ph type="subTitle" idx="1"/>
          </p:nvPr>
        </p:nvSpPr>
        <p:spPr bwMode="auto">
          <a:xfrm>
            <a:off x="1245686" y="648614"/>
            <a:ext cx="8534400" cy="1752599"/>
          </a:xfrm>
        </p:spPr>
        <p:txBody>
          <a:bodyPr/>
          <a:lstStyle/>
          <a:p>
            <a:pPr>
              <a:defRPr/>
            </a:pPr>
            <a:endParaRPr lang="en-US" b="1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b="1">
                <a:solidFill>
                  <a:schemeClr val="tx1"/>
                </a:solidFill>
                <a:latin typeface="Times New Roman"/>
                <a:cs typeface="Times New Roman"/>
              </a:rPr>
              <a:t>TITLE PAGE</a:t>
            </a:r>
            <a:endParaRPr lang="en-IN"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613308841" name="Title 7"/>
          <p:cNvSpPr>
            <a:spLocks noGrp="1"/>
          </p:cNvSpPr>
          <p:nvPr>
            <p:ph type="ctrTitle"/>
          </p:nvPr>
        </p:nvSpPr>
        <p:spPr bwMode="auto">
          <a:xfrm>
            <a:off x="331286" y="-526757"/>
            <a:ext cx="10363200" cy="2076450"/>
          </a:xfrm>
        </p:spPr>
        <p:txBody>
          <a:bodyPr/>
          <a:lstStyle/>
          <a:p>
            <a:pPr>
              <a:defRPr/>
            </a:pPr>
            <a:r>
              <a:rPr lang="en-US" sz="4000" b="1">
                <a:solidFill>
                  <a:schemeClr val="tx2"/>
                </a:solidFill>
                <a:latin typeface="Garamond"/>
              </a:rPr>
              <a:t>SMART INDIA HACKATHON 2025</a:t>
            </a:r>
            <a:endParaRPr lang="en-IN" sz="4000" b="1">
              <a:solidFill>
                <a:schemeClr val="tx2"/>
              </a:solidFill>
              <a:latin typeface="Garamond"/>
            </a:endParaRPr>
          </a:p>
        </p:txBody>
      </p:sp>
      <p:sp>
        <p:nvSpPr>
          <p:cNvPr id="1686177025" name="TextBox 9"/>
          <p:cNvSpPr txBox="1"/>
          <p:nvPr/>
        </p:nvSpPr>
        <p:spPr bwMode="auto">
          <a:xfrm>
            <a:off x="365566" y="1540305"/>
            <a:ext cx="6549524" cy="4694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en-US" dirty="0"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000" b="1" dirty="0">
                <a:latin typeface="Arial"/>
                <a:cs typeface="Arial"/>
              </a:rPr>
              <a:t>Problem Statement ID – </a:t>
            </a:r>
            <a:r>
              <a:rPr lang="en-US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25013</a:t>
            </a:r>
            <a:endParaRPr sz="2000" dirty="0"/>
          </a:p>
          <a:p>
            <a:pPr marL="285750" indent="-285750">
              <a:lnSpc>
                <a:spcPct val="200000"/>
              </a:lnSpc>
              <a:buFont typeface="Arial"/>
              <a:buChar char="•"/>
              <a:defRPr/>
            </a:pPr>
            <a:r>
              <a:rPr lang="en-US" sz="2000" b="1" dirty="0">
                <a:latin typeface="Arial"/>
                <a:cs typeface="Arial"/>
              </a:rPr>
              <a:t>Problem </a:t>
            </a:r>
            <a:r>
              <a:rPr lang="en-US" sz="2000" b="1" dirty="0" smtClean="0">
                <a:latin typeface="Arial"/>
                <a:cs typeface="Arial"/>
              </a:rPr>
              <a:t>Statement </a:t>
            </a:r>
            <a:r>
              <a:rPr lang="en-US" sz="2000" b="0" dirty="0" smtClean="0">
                <a:latin typeface="Arial"/>
                <a:cs typeface="Arial"/>
              </a:rPr>
              <a:t>Title </a:t>
            </a:r>
            <a:r>
              <a:rPr lang="en-US" sz="2000" b="1" dirty="0">
                <a:latin typeface="Arial"/>
              </a:rPr>
              <a:t> </a:t>
            </a:r>
            <a:r>
              <a:rPr lang="en-US" sz="2000" b="1" dirty="0">
                <a:latin typeface="Arial"/>
                <a:ea typeface="Arial"/>
              </a:rPr>
              <a:t>–</a:t>
            </a:r>
            <a:r>
              <a:rPr lang="en-US" sz="2000" b="1" dirty="0">
                <a:latin typeface="Arial"/>
              </a:rPr>
              <a:t> </a:t>
            </a:r>
            <a:r>
              <a:rPr lang="en-US" sz="2000" b="1" dirty="0" smtClean="0">
                <a:latin typeface="Arial"/>
              </a:rPr>
              <a:t> </a:t>
            </a:r>
            <a:r>
              <a:rPr lang="en-US" sz="2000" b="0" i="0" u="none" strike="noStrike" cap="none" spc="0" dirty="0" smtClean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Real-Time </a:t>
            </a:r>
            <a:r>
              <a:rPr lang="en-US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Public Transport Tracking for Small Cities</a:t>
            </a:r>
            <a:endParaRPr sz="2000" b="0" dirty="0"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000" b="1" dirty="0">
                <a:latin typeface="Arial"/>
                <a:cs typeface="Arial"/>
              </a:rPr>
              <a:t>Theme </a:t>
            </a:r>
            <a:r>
              <a:rPr lang="en-US" sz="2000" b="1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–</a:t>
            </a:r>
            <a:r>
              <a:rPr lang="en-US" sz="2000" b="1" dirty="0">
                <a:latin typeface="Arial"/>
                <a:cs typeface="Arial"/>
              </a:rPr>
              <a:t> </a:t>
            </a:r>
            <a:r>
              <a:rPr lang="en-US" sz="2000" b="0" dirty="0">
                <a:latin typeface="Arial"/>
                <a:cs typeface="Arial"/>
              </a:rPr>
              <a:t>Transport &amp; Logistics</a:t>
            </a:r>
            <a:endParaRPr sz="2000" dirty="0"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000" b="1" dirty="0">
                <a:latin typeface="Arial"/>
                <a:cs typeface="Arial"/>
              </a:rPr>
              <a:t>PS Category </a:t>
            </a:r>
            <a:r>
              <a:rPr lang="en-US" sz="2000" b="1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–</a:t>
            </a:r>
            <a:r>
              <a:rPr lang="en-US" sz="2000" b="0" dirty="0">
                <a:latin typeface="Arial"/>
                <a:cs typeface="Arial"/>
              </a:rPr>
              <a:t> Software</a:t>
            </a:r>
            <a:endParaRPr sz="2000" b="0" dirty="0"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000" b="1" dirty="0">
                <a:latin typeface="Arial"/>
                <a:cs typeface="Arial"/>
              </a:rPr>
              <a:t>Team ID </a:t>
            </a:r>
            <a:r>
              <a:rPr lang="en-US" sz="2000" b="1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–</a:t>
            </a:r>
            <a:r>
              <a:rPr lang="en-US" sz="2000" b="1" dirty="0">
                <a:latin typeface="Arial"/>
                <a:cs typeface="Arial"/>
              </a:rPr>
              <a:t> </a:t>
            </a:r>
            <a:endParaRPr b="0" dirty="0"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200" b="1" dirty="0">
                <a:latin typeface="Arial"/>
                <a:cs typeface="Arial"/>
              </a:rPr>
              <a:t>Team Name </a:t>
            </a:r>
            <a:r>
              <a:rPr lang="en-US" sz="2200" b="1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–</a:t>
            </a:r>
            <a:r>
              <a:rPr lang="en-US" sz="2200" b="0" dirty="0">
                <a:latin typeface="Arial"/>
                <a:cs typeface="Arial"/>
              </a:rPr>
              <a:t> NUVIRA</a:t>
            </a:r>
            <a:endParaRPr lang="en-IN" sz="2400" b="1" dirty="0">
              <a:latin typeface="Arial"/>
              <a:cs typeface="Arial"/>
            </a:endParaRPr>
          </a:p>
        </p:txBody>
      </p:sp>
      <p:pic>
        <p:nvPicPr>
          <p:cNvPr id="1482002287" name="Picture 2" descr="https://www.sih.gov.in/img1/SIH-Logo.png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="" xmlns:m="http://schemas.openxmlformats.org/officeDocument/2006/math" xmlns:w="http://schemas.openxmlformats.org/wordprocessingml/2006/main" xmlns:p159="http://schemas.microsoft.com/office/powerpoint/2015/09/main" xmlns:p14="http://schemas.microsoft.com/office/powerpoint/2010/main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009342" name="Title 1"/>
          <p:cNvSpPr>
            <a:spLocks noGrp="1"/>
          </p:cNvSpPr>
          <p:nvPr>
            <p:ph type="title"/>
          </p:nvPr>
        </p:nvSpPr>
        <p:spPr bwMode="auto">
          <a:xfrm>
            <a:off x="182997" y="0"/>
            <a:ext cx="10972800" cy="871435"/>
          </a:xfrm>
        </p:spPr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/>
            </a:r>
            <a:br>
              <a:rPr lang="en-US" sz="3600" b="1">
                <a:latin typeface="Times New Roman"/>
                <a:ea typeface="ＭＳ Ｐゴシック"/>
                <a:cs typeface="Times New Roman"/>
              </a:rPr>
            </a:br>
            <a:r>
              <a:rPr lang="en-US" sz="3600" b="1">
                <a:latin typeface="Times New Roman"/>
                <a:ea typeface="ＭＳ Ｐゴシック"/>
                <a:cs typeface="Times New Roman"/>
              </a:rPr>
              <a:t>SMART </a:t>
            </a:r>
            <a:r>
              <a:rPr lang="en-US" sz="3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–</a:t>
            </a:r>
            <a:r>
              <a:rPr lang="en-US" sz="3600" b="1">
                <a:latin typeface="Times New Roman"/>
                <a:ea typeface="ＭＳ Ｐゴシック"/>
                <a:cs typeface="Times New Roman"/>
              </a:rPr>
              <a:t> BUS</a:t>
            </a:r>
            <a:endParaRPr/>
          </a:p>
        </p:txBody>
      </p:sp>
      <p:sp>
        <p:nvSpPr>
          <p:cNvPr id="2016949742" name="Oval 9" descr="Your startup LOGO"/>
          <p:cNvSpPr/>
          <p:nvPr/>
        </p:nvSpPr>
        <p:spPr bwMode="auto">
          <a:xfrm>
            <a:off x="329772" y="252245"/>
            <a:ext cx="1354375" cy="80733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NUVIRA</a:t>
            </a:r>
            <a:endParaRPr lang="en-IN"/>
          </a:p>
        </p:txBody>
      </p:sp>
      <p:pic>
        <p:nvPicPr>
          <p:cNvPr id="365460797" name="Picture 2" descr="https://www.sih.gov.in/img1/SIH-Logo.png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</p:spPr>
      </p:pic>
      <p:sp>
        <p:nvSpPr>
          <p:cNvPr id="1924764461" name="TextBox 1924764460"/>
          <p:cNvSpPr txBox="1"/>
          <p:nvPr/>
        </p:nvSpPr>
        <p:spPr bwMode="auto">
          <a:xfrm>
            <a:off x="6947253" y="4641586"/>
            <a:ext cx="2627487" cy="156376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 sz="2600" dirty="0"/>
          </a:p>
          <a:p>
            <a:pPr marL="305908" indent="-305908">
              <a:buFont typeface="Wingdings"/>
              <a:buChar char="§"/>
              <a:defRPr/>
            </a:pPr>
            <a:r>
              <a:rPr b="0" i="0" u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Multi-portal design.</a:t>
            </a:r>
            <a:endParaRPr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5908" indent="-305908">
              <a:buFont typeface="Wingdings"/>
              <a:buChar char="§"/>
              <a:defRPr/>
            </a:pPr>
            <a:r>
              <a:rPr b="0" i="0" u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SOS escalation logic.</a:t>
            </a:r>
            <a:endParaRPr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5908" indent="-305908">
              <a:buFont typeface="Wingdings"/>
              <a:buChar char="§"/>
              <a:defRPr/>
            </a:pPr>
            <a:r>
              <a:rPr b="0" i="0" u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Analytics for admins</a:t>
            </a:r>
            <a:r>
              <a:rPr sz="2000" b="0" i="0" u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.</a:t>
            </a:r>
            <a:endParaRPr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36025092" name="Picture 236025091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-247650" y="1760478"/>
            <a:ext cx="7194903" cy="5639186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ADA14D15-FCE8-74D2-48B2-DC6DC05F49D3}"/>
              </a:ext>
            </a:extLst>
          </p:cNvPr>
          <p:cNvGrpSpPr/>
          <p:nvPr/>
        </p:nvGrpSpPr>
        <p:grpSpPr>
          <a:xfrm>
            <a:off x="6591383" y="1263505"/>
            <a:ext cx="5236463" cy="3132729"/>
            <a:chOff x="865520" y="3040077"/>
            <a:chExt cx="8258177" cy="3615259"/>
          </a:xfrm>
        </p:grpSpPr>
        <p:sp>
          <p:nvSpPr>
            <p:cNvPr id="17" name="Freeform 10"/>
            <p:cNvSpPr/>
            <p:nvPr/>
          </p:nvSpPr>
          <p:spPr>
            <a:xfrm>
              <a:off x="865520" y="3040077"/>
              <a:ext cx="8258177" cy="3615259"/>
            </a:xfrm>
            <a:custGeom>
              <a:avLst/>
              <a:gdLst/>
              <a:ahLst/>
              <a:cxnLst/>
              <a:rect l="l" t="t" r="r" b="b"/>
              <a:pathLst>
                <a:path w="11010900" h="8060055">
                  <a:moveTo>
                    <a:pt x="19050" y="0"/>
                  </a:moveTo>
                  <a:lnTo>
                    <a:pt x="10991850" y="0"/>
                  </a:lnTo>
                  <a:cubicBezTo>
                    <a:pt x="11002391" y="0"/>
                    <a:pt x="11010900" y="8509"/>
                    <a:pt x="11010900" y="19050"/>
                  </a:cubicBezTo>
                  <a:lnTo>
                    <a:pt x="11010900" y="8041005"/>
                  </a:lnTo>
                  <a:cubicBezTo>
                    <a:pt x="11010900" y="8051547"/>
                    <a:pt x="11002391" y="8060055"/>
                    <a:pt x="10991850" y="8060055"/>
                  </a:cubicBezTo>
                  <a:lnTo>
                    <a:pt x="19050" y="8060055"/>
                  </a:lnTo>
                  <a:cubicBezTo>
                    <a:pt x="8509" y="8060055"/>
                    <a:pt x="0" y="8051547"/>
                    <a:pt x="0" y="80410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8041005"/>
                  </a:lnTo>
                  <a:lnTo>
                    <a:pt x="19050" y="8041005"/>
                  </a:lnTo>
                  <a:lnTo>
                    <a:pt x="19050" y="8021955"/>
                  </a:lnTo>
                  <a:lnTo>
                    <a:pt x="10991850" y="8021955"/>
                  </a:lnTo>
                  <a:lnTo>
                    <a:pt x="10991850" y="8041005"/>
                  </a:lnTo>
                  <a:lnTo>
                    <a:pt x="10972800" y="8041005"/>
                  </a:lnTo>
                  <a:lnTo>
                    <a:pt x="10972800" y="19050"/>
                  </a:lnTo>
                  <a:lnTo>
                    <a:pt x="10991850" y="19050"/>
                  </a:lnTo>
                  <a:lnTo>
                    <a:pt x="1099185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4A7EBB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21"/>
            <p:cNvSpPr txBox="1"/>
            <p:nvPr/>
          </p:nvSpPr>
          <p:spPr>
            <a:xfrm>
              <a:off x="2742668" y="3178521"/>
              <a:ext cx="4503874" cy="47594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200" b="1" u="sng" dirty="0">
                  <a:latin typeface="Times New Roman" panose="02020603050405020304" pitchFamily="18" charset="0"/>
                  <a:ea typeface="Arial Bold"/>
                  <a:cs typeface="Times New Roman" panose="02020603050405020304" pitchFamily="18" charset="0"/>
                  <a:sym typeface="Arial Bold"/>
                </a:rPr>
                <a:t>Proposed Solution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6947253" y="1872836"/>
            <a:ext cx="45247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Mobile app with </a:t>
            </a:r>
            <a:r>
              <a:rPr lang="en-GB" b="1" dirty="0"/>
              <a:t>3 portals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(Passenger, Driver, Admin).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Real-time </a:t>
            </a:r>
            <a:r>
              <a:rPr lang="en-IN" dirty="0"/>
              <a:t>GPS bus </a:t>
            </a:r>
            <a:r>
              <a:rPr lang="en-IN" dirty="0" smtClean="0"/>
              <a:t>tracking.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AI-powered ETA (Google </a:t>
            </a:r>
            <a:r>
              <a:rPr lang="en-IN" dirty="0"/>
              <a:t>Maps Traffic API).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SOS emergencies </a:t>
            </a:r>
            <a:r>
              <a:rPr lang="en-GB" dirty="0" smtClean="0"/>
              <a:t>(Medical</a:t>
            </a:r>
            <a:r>
              <a:rPr lang="en-GB" dirty="0"/>
              <a:t>, Police, Women Safety, Breakdown</a:t>
            </a:r>
            <a:r>
              <a:rPr lang="en-GB" dirty="0" smtClean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Passenger </a:t>
            </a:r>
            <a:r>
              <a:rPr lang="en-IN" dirty="0"/>
              <a:t>ratings (bus, driver, experience).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Rural-friendly </a:t>
            </a:r>
            <a:r>
              <a:rPr lang="en-GB" dirty="0"/>
              <a:t>flashy UI with animations.</a:t>
            </a:r>
            <a:endParaRPr lang="en-IN" dirty="0"/>
          </a:p>
        </p:txBody>
      </p: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ADA14D15-FCE8-74D2-48B2-DC6DC05F49D3}"/>
              </a:ext>
            </a:extLst>
          </p:cNvPr>
          <p:cNvGrpSpPr/>
          <p:nvPr/>
        </p:nvGrpSpPr>
        <p:grpSpPr>
          <a:xfrm>
            <a:off x="6551075" y="4580071"/>
            <a:ext cx="5236466" cy="2009270"/>
            <a:chOff x="865520" y="3040077"/>
            <a:chExt cx="8258177" cy="3615259"/>
          </a:xfrm>
        </p:grpSpPr>
        <p:sp>
          <p:nvSpPr>
            <p:cNvPr id="20" name="Freeform 10"/>
            <p:cNvSpPr/>
            <p:nvPr/>
          </p:nvSpPr>
          <p:spPr>
            <a:xfrm>
              <a:off x="865520" y="3040077"/>
              <a:ext cx="8258177" cy="3615259"/>
            </a:xfrm>
            <a:custGeom>
              <a:avLst/>
              <a:gdLst/>
              <a:ahLst/>
              <a:cxnLst/>
              <a:rect l="l" t="t" r="r" b="b"/>
              <a:pathLst>
                <a:path w="11010900" h="8060055">
                  <a:moveTo>
                    <a:pt x="19050" y="0"/>
                  </a:moveTo>
                  <a:lnTo>
                    <a:pt x="10991850" y="0"/>
                  </a:lnTo>
                  <a:cubicBezTo>
                    <a:pt x="11002391" y="0"/>
                    <a:pt x="11010900" y="8509"/>
                    <a:pt x="11010900" y="19050"/>
                  </a:cubicBezTo>
                  <a:lnTo>
                    <a:pt x="11010900" y="8041005"/>
                  </a:lnTo>
                  <a:cubicBezTo>
                    <a:pt x="11010900" y="8051547"/>
                    <a:pt x="11002391" y="8060055"/>
                    <a:pt x="10991850" y="8060055"/>
                  </a:cubicBezTo>
                  <a:lnTo>
                    <a:pt x="19050" y="8060055"/>
                  </a:lnTo>
                  <a:cubicBezTo>
                    <a:pt x="8509" y="8060055"/>
                    <a:pt x="0" y="8051547"/>
                    <a:pt x="0" y="80410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8041005"/>
                  </a:lnTo>
                  <a:lnTo>
                    <a:pt x="19050" y="8041005"/>
                  </a:lnTo>
                  <a:lnTo>
                    <a:pt x="19050" y="8021955"/>
                  </a:lnTo>
                  <a:lnTo>
                    <a:pt x="10991850" y="8021955"/>
                  </a:lnTo>
                  <a:lnTo>
                    <a:pt x="10991850" y="8041005"/>
                  </a:lnTo>
                  <a:lnTo>
                    <a:pt x="10972800" y="8041005"/>
                  </a:lnTo>
                  <a:lnTo>
                    <a:pt x="10972800" y="19050"/>
                  </a:lnTo>
                  <a:lnTo>
                    <a:pt x="10991850" y="19050"/>
                  </a:lnTo>
                  <a:lnTo>
                    <a:pt x="1099185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4A7EBB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124" y="3178522"/>
              <a:ext cx="7817569" cy="7420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200" b="1" u="sng" dirty="0" smtClean="0">
                  <a:ln w="0"/>
                  <a:latin typeface="Times New Roman" panose="02020603050405020304" pitchFamily="18" charset="0"/>
                  <a:ea typeface="Arial Bold"/>
                  <a:cs typeface="Times New Roman" panose="02020603050405020304" pitchFamily="18" charset="0"/>
                  <a:sym typeface="Arial Bold"/>
                </a:rPr>
                <a:t>Innovation / Unique Value Proposition</a:t>
              </a:r>
              <a:endParaRPr lang="en-US" sz="2200" b="1" u="sng" dirty="0">
                <a:ln w="0"/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82997" y="1332486"/>
            <a:ext cx="63680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“Every year, more than </a:t>
            </a:r>
            <a:r>
              <a:rPr lang="en-GB" b="1" dirty="0"/>
              <a:t>60% of commuters </a:t>
            </a:r>
            <a:r>
              <a:rPr lang="en-GB" b="1" dirty="0" smtClean="0"/>
              <a:t>in </a:t>
            </a:r>
            <a:r>
              <a:rPr lang="en-GB" b="1" dirty="0"/>
              <a:t>rural cities</a:t>
            </a:r>
            <a:r>
              <a:rPr lang="en-GB" dirty="0"/>
              <a:t> suffer from </a:t>
            </a:r>
            <a:r>
              <a:rPr lang="en-GB" b="1" dirty="0"/>
              <a:t>unpredictable bus timings, overcrowding, and lack of real-time updates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To counter this growing challenge, we present </a:t>
            </a:r>
            <a:r>
              <a:rPr lang="en-GB" b="1" dirty="0" smtClean="0"/>
              <a:t>Smart-Bus </a:t>
            </a:r>
            <a:r>
              <a:rPr lang="en-GB" dirty="0" smtClean="0"/>
              <a:t>, </a:t>
            </a:r>
            <a:r>
              <a:rPr lang="en-GB" dirty="0"/>
              <a:t>a simple yet powerful mobile app to make public transport </a:t>
            </a:r>
            <a:r>
              <a:rPr lang="en-GB" b="1" dirty="0"/>
              <a:t>smarter, safer, and more reliable</a:t>
            </a:r>
            <a:r>
              <a:rPr lang="en-GB" dirty="0"/>
              <a:t>.”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="" xmlns:m="http://schemas.openxmlformats.org/officeDocument/2006/math" xmlns:w="http://schemas.openxmlformats.org/wordprocessingml/2006/main" xmlns:p159="http://schemas.microsoft.com/office/powerpoint/2015/09/main" xmlns:p14="http://schemas.microsoft.com/office/powerpoint/2010/main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7005304" name="Title 1"/>
          <p:cNvSpPr>
            <a:spLocks noGrp="1"/>
          </p:cNvSpPr>
          <p:nvPr>
            <p:ph type="title"/>
          </p:nvPr>
        </p:nvSpPr>
        <p:spPr bwMode="auto">
          <a:xfrm>
            <a:off x="609599" y="-47623"/>
            <a:ext cx="10972800" cy="1020390"/>
          </a:xfrm>
        </p:spPr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TECHNICAL APPROACH</a:t>
            </a:r>
            <a:endParaRPr/>
          </a:p>
        </p:txBody>
      </p:sp>
      <p:sp>
        <p:nvSpPr>
          <p:cNvPr id="123246003" name="TextBox 8"/>
          <p:cNvSpPr txBox="1">
            <a:spLocks noChangeArrowheads="1"/>
          </p:cNvSpPr>
          <p:nvPr/>
        </p:nvSpPr>
        <p:spPr bwMode="auto">
          <a:xfrm>
            <a:off x="528536" y="2533653"/>
            <a:ext cx="9385659" cy="366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3259452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7C3CE7-23F7-4828-823C-E0205DF2CF97}" type="slidenum">
              <a:rPr lang="en-US" b="1">
                <a:solidFill>
                  <a:schemeClr val="bg1"/>
                </a:solidFill>
              </a:rPr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310064341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648199" y="6423818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</a:t>
            </a:r>
          </a:p>
        </p:txBody>
      </p:sp>
      <p:sp>
        <p:nvSpPr>
          <p:cNvPr id="1197433706" name="Oval 10" descr="Your startup LOGO"/>
          <p:cNvSpPr/>
          <p:nvPr/>
        </p:nvSpPr>
        <p:spPr bwMode="auto">
          <a:xfrm>
            <a:off x="433839" y="57096"/>
            <a:ext cx="1475666" cy="80733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NUVIRA</a:t>
            </a:r>
            <a:endParaRPr lang="en-IN"/>
          </a:p>
        </p:txBody>
      </p:sp>
      <p:pic>
        <p:nvPicPr>
          <p:cNvPr id="164770964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</p:spPr>
      </p:pic>
      <p:sp>
        <p:nvSpPr>
          <p:cNvPr id="755673464" name="TextBox 755673463"/>
          <p:cNvSpPr txBox="1"/>
          <p:nvPr/>
        </p:nvSpPr>
        <p:spPr bwMode="auto">
          <a:xfrm>
            <a:off x="285796" y="300192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/>
          </a:p>
        </p:txBody>
      </p:sp>
      <p:pic>
        <p:nvPicPr>
          <p:cNvPr id="2029649215" name="Picture 2029649214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69432" y="3224366"/>
            <a:ext cx="4261003" cy="3536436"/>
          </a:xfrm>
          <a:prstGeom prst="rect">
            <a:avLst/>
          </a:prstGeom>
        </p:spPr>
      </p:pic>
      <p:pic>
        <p:nvPicPr>
          <p:cNvPr id="707630480" name="Picture 707630479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6302388" y="1120484"/>
            <a:ext cx="5095874" cy="529535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ADA14D15-FCE8-74D2-48B2-DC6DC05F49D3}"/>
              </a:ext>
            </a:extLst>
          </p:cNvPr>
          <p:cNvGrpSpPr/>
          <p:nvPr/>
        </p:nvGrpSpPr>
        <p:grpSpPr>
          <a:xfrm>
            <a:off x="217274" y="888934"/>
            <a:ext cx="4755767" cy="2305157"/>
            <a:chOff x="865520" y="3040077"/>
            <a:chExt cx="8258177" cy="3615259"/>
          </a:xfrm>
        </p:grpSpPr>
        <p:sp>
          <p:nvSpPr>
            <p:cNvPr id="15" name="Freeform 10"/>
            <p:cNvSpPr/>
            <p:nvPr/>
          </p:nvSpPr>
          <p:spPr>
            <a:xfrm>
              <a:off x="865520" y="3040077"/>
              <a:ext cx="8258177" cy="3615259"/>
            </a:xfrm>
            <a:custGeom>
              <a:avLst/>
              <a:gdLst/>
              <a:ahLst/>
              <a:cxnLst/>
              <a:rect l="l" t="t" r="r" b="b"/>
              <a:pathLst>
                <a:path w="11010900" h="8060055">
                  <a:moveTo>
                    <a:pt x="19050" y="0"/>
                  </a:moveTo>
                  <a:lnTo>
                    <a:pt x="10991850" y="0"/>
                  </a:lnTo>
                  <a:cubicBezTo>
                    <a:pt x="11002391" y="0"/>
                    <a:pt x="11010900" y="8509"/>
                    <a:pt x="11010900" y="19050"/>
                  </a:cubicBezTo>
                  <a:lnTo>
                    <a:pt x="11010900" y="8041005"/>
                  </a:lnTo>
                  <a:cubicBezTo>
                    <a:pt x="11010900" y="8051547"/>
                    <a:pt x="11002391" y="8060055"/>
                    <a:pt x="10991850" y="8060055"/>
                  </a:cubicBezTo>
                  <a:lnTo>
                    <a:pt x="19050" y="8060055"/>
                  </a:lnTo>
                  <a:cubicBezTo>
                    <a:pt x="8509" y="8060055"/>
                    <a:pt x="0" y="8051547"/>
                    <a:pt x="0" y="80410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8041005"/>
                  </a:lnTo>
                  <a:lnTo>
                    <a:pt x="19050" y="8041005"/>
                  </a:lnTo>
                  <a:lnTo>
                    <a:pt x="19050" y="8021955"/>
                  </a:lnTo>
                  <a:lnTo>
                    <a:pt x="10991850" y="8021955"/>
                  </a:lnTo>
                  <a:lnTo>
                    <a:pt x="10991850" y="8041005"/>
                  </a:lnTo>
                  <a:lnTo>
                    <a:pt x="10972800" y="8041005"/>
                  </a:lnTo>
                  <a:lnTo>
                    <a:pt x="10972800" y="19050"/>
                  </a:lnTo>
                  <a:lnTo>
                    <a:pt x="10991850" y="19050"/>
                  </a:lnTo>
                  <a:lnTo>
                    <a:pt x="1099185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4A7EBB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21"/>
            <p:cNvSpPr txBox="1"/>
            <p:nvPr/>
          </p:nvSpPr>
          <p:spPr>
            <a:xfrm>
              <a:off x="2742668" y="3171050"/>
              <a:ext cx="4503874" cy="646814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200" b="1" u="sng" dirty="0" smtClean="0">
                  <a:ln w="0"/>
                  <a:latin typeface="Times New Roman" panose="02020603050405020304" pitchFamily="18" charset="0"/>
                  <a:ea typeface="Arial Bold"/>
                  <a:cs typeface="Times New Roman" panose="02020603050405020304" pitchFamily="18" charset="0"/>
                  <a:sym typeface="Arial Bold"/>
                </a:rPr>
                <a:t>Tech Stack</a:t>
              </a:r>
              <a:endParaRPr lang="en-US" sz="2200" b="1" u="sng" dirty="0">
                <a:ln w="0"/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314676" y="1336714"/>
            <a:ext cx="490668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Frontend</a:t>
            </a:r>
            <a:r>
              <a:rPr lang="en-I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</a:t>
            </a:r>
            <a:r>
              <a:rPr lang="en-IN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Flutter / React.js</a:t>
            </a:r>
            <a:endParaRPr lang="en-IN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Backend</a:t>
            </a:r>
            <a:r>
              <a:rPr lang="en-I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Flask (Python </a:t>
            </a:r>
            <a:r>
              <a:rPr lang="en-IN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REST)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Database</a:t>
            </a:r>
            <a:r>
              <a:rPr lang="en-I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</a:t>
            </a:r>
            <a:r>
              <a:rPr lang="en-IN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MongoDB</a:t>
            </a:r>
            <a:r>
              <a:rPr lang="en-IN" sz="2400" dirty="0"/>
              <a:t> / </a:t>
            </a:r>
            <a:r>
              <a:rPr lang="en-IN" dirty="0" err="1"/>
              <a:t>supabase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Maps: </a:t>
            </a:r>
            <a:r>
              <a:rPr lang="en-I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Google Maps API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b="1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Authorisation : </a:t>
            </a:r>
            <a:r>
              <a:rPr lang="en-I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Firebase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="" xmlns:m="http://schemas.openxmlformats.org/officeDocument/2006/math" xmlns:w="http://schemas.openxmlformats.org/wordprocessingml/2006/main" xmlns:p159="http://schemas.microsoft.com/office/powerpoint/2015/09/main" xmlns:p14="http://schemas.microsoft.com/office/powerpoint/2010/main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4731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FEASIBILITY AND VIABILITY</a:t>
            </a:r>
            <a:endParaRPr/>
          </a:p>
        </p:txBody>
      </p:sp>
      <p:sp>
        <p:nvSpPr>
          <p:cNvPr id="56814417" name="Oval 11" descr="Your startup LOGO"/>
          <p:cNvSpPr/>
          <p:nvPr/>
        </p:nvSpPr>
        <p:spPr bwMode="auto">
          <a:xfrm>
            <a:off x="329772" y="214862"/>
            <a:ext cx="1394907" cy="80733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NUVIRA</a:t>
            </a:r>
            <a:endParaRPr lang="en-IN"/>
          </a:p>
        </p:txBody>
      </p:sp>
      <p:pic>
        <p:nvPicPr>
          <p:cNvPr id="1371715248" name="Picture 2" descr="https://www.sih.gov.in/img1/SIH-Logo.png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</p:spPr>
      </p:pic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ADA14D15-FCE8-74D2-48B2-DC6DC05F49D3}"/>
              </a:ext>
            </a:extLst>
          </p:cNvPr>
          <p:cNvGrpSpPr/>
          <p:nvPr/>
        </p:nvGrpSpPr>
        <p:grpSpPr>
          <a:xfrm>
            <a:off x="6112763" y="1253750"/>
            <a:ext cx="5236463" cy="3213686"/>
            <a:chOff x="865520" y="3040077"/>
            <a:chExt cx="8258177" cy="3615259"/>
          </a:xfrm>
        </p:grpSpPr>
        <p:sp>
          <p:nvSpPr>
            <p:cNvPr id="12" name="Freeform 10"/>
            <p:cNvSpPr/>
            <p:nvPr/>
          </p:nvSpPr>
          <p:spPr>
            <a:xfrm>
              <a:off x="865520" y="3040077"/>
              <a:ext cx="8258177" cy="3615259"/>
            </a:xfrm>
            <a:custGeom>
              <a:avLst/>
              <a:gdLst/>
              <a:ahLst/>
              <a:cxnLst/>
              <a:rect l="l" t="t" r="r" b="b"/>
              <a:pathLst>
                <a:path w="11010900" h="8060055">
                  <a:moveTo>
                    <a:pt x="19050" y="0"/>
                  </a:moveTo>
                  <a:lnTo>
                    <a:pt x="10991850" y="0"/>
                  </a:lnTo>
                  <a:cubicBezTo>
                    <a:pt x="11002391" y="0"/>
                    <a:pt x="11010900" y="8509"/>
                    <a:pt x="11010900" y="19050"/>
                  </a:cubicBezTo>
                  <a:lnTo>
                    <a:pt x="11010900" y="8041005"/>
                  </a:lnTo>
                  <a:cubicBezTo>
                    <a:pt x="11010900" y="8051547"/>
                    <a:pt x="11002391" y="8060055"/>
                    <a:pt x="10991850" y="8060055"/>
                  </a:cubicBezTo>
                  <a:lnTo>
                    <a:pt x="19050" y="8060055"/>
                  </a:lnTo>
                  <a:cubicBezTo>
                    <a:pt x="8509" y="8060055"/>
                    <a:pt x="0" y="8051547"/>
                    <a:pt x="0" y="80410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8041005"/>
                  </a:lnTo>
                  <a:lnTo>
                    <a:pt x="19050" y="8041005"/>
                  </a:lnTo>
                  <a:lnTo>
                    <a:pt x="19050" y="8021955"/>
                  </a:lnTo>
                  <a:lnTo>
                    <a:pt x="10991850" y="8021955"/>
                  </a:lnTo>
                  <a:lnTo>
                    <a:pt x="10991850" y="8041005"/>
                  </a:lnTo>
                  <a:lnTo>
                    <a:pt x="10972800" y="8041005"/>
                  </a:lnTo>
                  <a:lnTo>
                    <a:pt x="10972800" y="19050"/>
                  </a:lnTo>
                  <a:lnTo>
                    <a:pt x="10991850" y="19050"/>
                  </a:lnTo>
                  <a:lnTo>
                    <a:pt x="10991850" y="38100"/>
                  </a:lnTo>
                  <a:lnTo>
                    <a:pt x="19050" y="38100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21"/>
            <p:cNvSpPr txBox="1"/>
            <p:nvPr/>
          </p:nvSpPr>
          <p:spPr>
            <a:xfrm>
              <a:off x="2742668" y="3178521"/>
              <a:ext cx="4503874" cy="4111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200" b="1" u="sng" dirty="0" smtClean="0">
                  <a:latin typeface="Times New Roman" panose="02020603050405020304" pitchFamily="18" charset="0"/>
                  <a:ea typeface="Arial Bold"/>
                  <a:cs typeface="Times New Roman" panose="02020603050405020304" pitchFamily="18" charset="0"/>
                  <a:sym typeface="Arial Bold"/>
                </a:rPr>
                <a:t>Strategies</a:t>
              </a:r>
              <a:endParaRPr lang="en-US" sz="2200" b="1" u="sng" dirty="0"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474191" y="1573646"/>
            <a:ext cx="512326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5908" indent="-305908">
              <a:buFont typeface="Arial"/>
              <a:buChar char="•"/>
              <a:defRPr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Feasible with existing tech (Google Maps + Firebase).</a:t>
            </a:r>
          </a:p>
          <a:p>
            <a:pPr marL="305908" indent="-305908">
              <a:buFont typeface="Arial"/>
              <a:buChar char="•"/>
              <a:defRPr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Optimized for low-bandwidth 3G/4G.</a:t>
            </a:r>
            <a:endParaRPr lang="en-IN" sz="2600" dirty="0"/>
          </a:p>
          <a:p>
            <a:pPr marL="305908" indent="-305908">
              <a:buFont typeface="Arial"/>
              <a:buChar char="•"/>
              <a:defRPr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Scalable for future Scope.</a:t>
            </a:r>
          </a:p>
          <a:p>
            <a:pPr marL="705958" lvl="1" indent="-305908">
              <a:buFont typeface="Arial"/>
              <a:buChar char="•"/>
              <a:defRPr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Add </a:t>
            </a:r>
            <a:r>
              <a:rPr lang="en-IN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multi-language support</a:t>
            </a: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(Hindi, Punjabi, Telugu, etc.).</a:t>
            </a:r>
            <a:endParaRPr lang="en-IN" sz="2600" dirty="0"/>
          </a:p>
          <a:p>
            <a:pPr marL="705958" lvl="1" indent="-305908">
              <a:buFont typeface="Arial"/>
              <a:buChar char="•"/>
              <a:defRPr/>
            </a:pPr>
            <a:r>
              <a:rPr lang="en-IN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AI-powered route optimization</a:t>
            </a: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(predict delays, suggest alternate buses</a:t>
            </a:r>
            <a:r>
              <a:rPr lang="en-IN" sz="20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).</a:t>
            </a:r>
          </a:p>
          <a:p>
            <a:pPr marL="705958" lvl="1" indent="-305908">
              <a:buFont typeface="Arial"/>
              <a:buChar char="•"/>
              <a:defRPr/>
            </a:pPr>
            <a:r>
              <a:rPr lang="en-GB" sz="20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AI powered </a:t>
            </a:r>
            <a:r>
              <a:rPr lang="en-GB" sz="2000" b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SOS informer</a:t>
            </a:r>
            <a:endParaRPr lang="en-IN" sz="3600" b="1" dirty="0"/>
          </a:p>
          <a:p>
            <a:endParaRPr lang="en-IN" dirty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ADA14D15-FCE8-74D2-48B2-DC6DC05F49D3}"/>
              </a:ext>
            </a:extLst>
          </p:cNvPr>
          <p:cNvGrpSpPr/>
          <p:nvPr/>
        </p:nvGrpSpPr>
        <p:grpSpPr>
          <a:xfrm>
            <a:off x="360995" y="1022195"/>
            <a:ext cx="5236463" cy="3626005"/>
            <a:chOff x="865520" y="3040077"/>
            <a:chExt cx="8258177" cy="3615259"/>
          </a:xfrm>
        </p:grpSpPr>
        <p:sp>
          <p:nvSpPr>
            <p:cNvPr id="16" name="Freeform 10"/>
            <p:cNvSpPr/>
            <p:nvPr/>
          </p:nvSpPr>
          <p:spPr>
            <a:xfrm>
              <a:off x="865520" y="3040077"/>
              <a:ext cx="8258177" cy="3615259"/>
            </a:xfrm>
            <a:custGeom>
              <a:avLst/>
              <a:gdLst/>
              <a:ahLst/>
              <a:cxnLst/>
              <a:rect l="l" t="t" r="r" b="b"/>
              <a:pathLst>
                <a:path w="11010900" h="8060055">
                  <a:moveTo>
                    <a:pt x="19050" y="0"/>
                  </a:moveTo>
                  <a:lnTo>
                    <a:pt x="10991850" y="0"/>
                  </a:lnTo>
                  <a:cubicBezTo>
                    <a:pt x="11002391" y="0"/>
                    <a:pt x="11010900" y="8509"/>
                    <a:pt x="11010900" y="19050"/>
                  </a:cubicBezTo>
                  <a:lnTo>
                    <a:pt x="11010900" y="8041005"/>
                  </a:lnTo>
                  <a:cubicBezTo>
                    <a:pt x="11010900" y="8051547"/>
                    <a:pt x="11002391" y="8060055"/>
                    <a:pt x="10991850" y="8060055"/>
                  </a:cubicBezTo>
                  <a:lnTo>
                    <a:pt x="19050" y="8060055"/>
                  </a:lnTo>
                  <a:cubicBezTo>
                    <a:pt x="8509" y="8060055"/>
                    <a:pt x="0" y="8051547"/>
                    <a:pt x="0" y="80410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8041005"/>
                  </a:lnTo>
                  <a:lnTo>
                    <a:pt x="19050" y="8041005"/>
                  </a:lnTo>
                  <a:lnTo>
                    <a:pt x="19050" y="8021955"/>
                  </a:lnTo>
                  <a:lnTo>
                    <a:pt x="10991850" y="8021955"/>
                  </a:lnTo>
                  <a:lnTo>
                    <a:pt x="10991850" y="8041005"/>
                  </a:lnTo>
                  <a:lnTo>
                    <a:pt x="10972800" y="8041005"/>
                  </a:lnTo>
                  <a:lnTo>
                    <a:pt x="10972800" y="19050"/>
                  </a:lnTo>
                  <a:lnTo>
                    <a:pt x="10991850" y="19050"/>
                  </a:lnTo>
                  <a:lnTo>
                    <a:pt x="1099185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4A7EBB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21"/>
            <p:cNvSpPr txBox="1"/>
            <p:nvPr/>
          </p:nvSpPr>
          <p:spPr>
            <a:xfrm>
              <a:off x="2742668" y="3178521"/>
              <a:ext cx="4503874" cy="47594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200" b="1" u="sng" dirty="0" smtClean="0">
                  <a:latin typeface="Times New Roman" panose="02020603050405020304" pitchFamily="18" charset="0"/>
                  <a:ea typeface="Arial Bold"/>
                  <a:cs typeface="Times New Roman" panose="02020603050405020304" pitchFamily="18" charset="0"/>
                  <a:sym typeface="Arial Bold"/>
                </a:rPr>
                <a:t>Feasibility</a:t>
              </a:r>
              <a:endParaRPr lang="en-US" sz="2200" b="1" u="sng" dirty="0"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6297725" y="1635892"/>
            <a:ext cx="4648201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en-GB" sz="2000" dirty="0">
              <a:latin typeface="Times New Roman"/>
              <a:cs typeface="Times New Roman"/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lang="en-GB" sz="2000" dirty="0">
                <a:latin typeface="Times New Roman"/>
                <a:ea typeface="Times New Roman"/>
                <a:cs typeface="Times New Roman"/>
              </a:rPr>
              <a:t>- </a:t>
            </a:r>
            <a:r>
              <a:rPr lang="en-GB" sz="2000" b="1" dirty="0">
                <a:latin typeface="Times New Roman"/>
                <a:ea typeface="Times New Roman"/>
                <a:cs typeface="Times New Roman"/>
              </a:rPr>
              <a:t>Simple driver interface</a:t>
            </a:r>
            <a:endParaRPr lang="en-GB" sz="2000" b="1" dirty="0">
              <a:latin typeface="Times New Roman"/>
              <a:cs typeface="Times New Roman"/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lang="en-GB" sz="2000" dirty="0">
                <a:latin typeface="Times New Roman"/>
                <a:ea typeface="Times New Roman"/>
                <a:cs typeface="Times New Roman"/>
              </a:rPr>
              <a:t>- </a:t>
            </a:r>
            <a:r>
              <a:rPr lang="en-GB" sz="2000" b="1" dirty="0">
                <a:latin typeface="Times New Roman"/>
                <a:ea typeface="Times New Roman"/>
                <a:cs typeface="Times New Roman"/>
              </a:rPr>
              <a:t>Offline caching </a:t>
            </a:r>
            <a:r>
              <a:rPr lang="en-GB" sz="2000" dirty="0">
                <a:latin typeface="Times New Roman"/>
                <a:ea typeface="Times New Roman"/>
                <a:cs typeface="Times New Roman"/>
              </a:rPr>
              <a:t>&amp; low-data mode</a:t>
            </a:r>
            <a:endParaRPr lang="en-GB" sz="2000" dirty="0">
              <a:latin typeface="Times New Roman"/>
              <a:cs typeface="Times New Roman"/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lang="en-GB" sz="2000" dirty="0">
                <a:latin typeface="Times New Roman"/>
                <a:ea typeface="Times New Roman"/>
                <a:cs typeface="Times New Roman"/>
              </a:rPr>
              <a:t>- AI ETA + </a:t>
            </a:r>
            <a:r>
              <a:rPr lang="en-GB" sz="2000" b="1" dirty="0">
                <a:latin typeface="Times New Roman"/>
                <a:ea typeface="Times New Roman"/>
                <a:cs typeface="Times New Roman"/>
              </a:rPr>
              <a:t>static </a:t>
            </a:r>
            <a:r>
              <a:rPr lang="en-GB" sz="2000" b="1" dirty="0" err="1">
                <a:latin typeface="Times New Roman"/>
                <a:ea typeface="Times New Roman"/>
                <a:cs typeface="Times New Roman"/>
              </a:rPr>
              <a:t>fallback</a:t>
            </a:r>
            <a:endParaRPr lang="en-GB" sz="2000" b="1" dirty="0">
              <a:latin typeface="Times New Roman"/>
              <a:cs typeface="Times New Roman"/>
            </a:endParaRPr>
          </a:p>
          <a:p>
            <a:pPr marL="705958" lvl="1" indent="-305908">
              <a:buFont typeface="Arial"/>
              <a:buChar char="•"/>
              <a:defRPr/>
            </a:pPr>
            <a:r>
              <a:rPr lang="en-GB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If (GPS/Internet) isn’t available the app doesn’t just “break”.</a:t>
            </a:r>
            <a:br>
              <a:rPr lang="en-GB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en-GB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Instead, it falls back to static, pre-stored data </a:t>
            </a:r>
            <a:endParaRPr lang="en-GB" sz="2000" dirty="0"/>
          </a:p>
          <a:p>
            <a:endParaRPr lang="en-IN" dirty="0"/>
          </a:p>
        </p:txBody>
      </p: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ADA14D15-FCE8-74D2-48B2-DC6DC05F49D3}"/>
              </a:ext>
            </a:extLst>
          </p:cNvPr>
          <p:cNvGrpSpPr/>
          <p:nvPr/>
        </p:nvGrpSpPr>
        <p:grpSpPr>
          <a:xfrm>
            <a:off x="329772" y="4816043"/>
            <a:ext cx="11385978" cy="1851595"/>
            <a:chOff x="865520" y="3040075"/>
            <a:chExt cx="8258177" cy="3615261"/>
          </a:xfrm>
        </p:grpSpPr>
        <p:sp>
          <p:nvSpPr>
            <p:cNvPr id="20" name="Freeform 10"/>
            <p:cNvSpPr/>
            <p:nvPr/>
          </p:nvSpPr>
          <p:spPr>
            <a:xfrm>
              <a:off x="865520" y="3040077"/>
              <a:ext cx="8258177" cy="3615259"/>
            </a:xfrm>
            <a:custGeom>
              <a:avLst/>
              <a:gdLst/>
              <a:ahLst/>
              <a:cxnLst/>
              <a:rect l="l" t="t" r="r" b="b"/>
              <a:pathLst>
                <a:path w="11010900" h="8060055">
                  <a:moveTo>
                    <a:pt x="19050" y="0"/>
                  </a:moveTo>
                  <a:lnTo>
                    <a:pt x="10991850" y="0"/>
                  </a:lnTo>
                  <a:cubicBezTo>
                    <a:pt x="11002391" y="0"/>
                    <a:pt x="11010900" y="8509"/>
                    <a:pt x="11010900" y="19050"/>
                  </a:cubicBezTo>
                  <a:lnTo>
                    <a:pt x="11010900" y="8041005"/>
                  </a:lnTo>
                  <a:cubicBezTo>
                    <a:pt x="11010900" y="8051547"/>
                    <a:pt x="11002391" y="8060055"/>
                    <a:pt x="10991850" y="8060055"/>
                  </a:cubicBezTo>
                  <a:lnTo>
                    <a:pt x="19050" y="8060055"/>
                  </a:lnTo>
                  <a:cubicBezTo>
                    <a:pt x="8509" y="8060055"/>
                    <a:pt x="0" y="8051547"/>
                    <a:pt x="0" y="80410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8041005"/>
                  </a:lnTo>
                  <a:lnTo>
                    <a:pt x="19050" y="8041005"/>
                  </a:lnTo>
                  <a:lnTo>
                    <a:pt x="19050" y="8021955"/>
                  </a:lnTo>
                  <a:lnTo>
                    <a:pt x="10991850" y="8021955"/>
                  </a:lnTo>
                  <a:lnTo>
                    <a:pt x="10991850" y="8041005"/>
                  </a:lnTo>
                  <a:lnTo>
                    <a:pt x="10972800" y="8041005"/>
                  </a:lnTo>
                  <a:lnTo>
                    <a:pt x="10972800" y="19050"/>
                  </a:lnTo>
                  <a:lnTo>
                    <a:pt x="10991850" y="19050"/>
                  </a:lnTo>
                  <a:lnTo>
                    <a:pt x="10991850" y="38100"/>
                  </a:lnTo>
                  <a:lnTo>
                    <a:pt x="19050" y="38100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66187" y="3040075"/>
              <a:ext cx="4503874" cy="80525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600"/>
                </a:lnSpc>
              </a:pPr>
              <a:r>
                <a:rPr lang="en-US" sz="2200" b="1" u="sng" dirty="0" smtClean="0">
                  <a:latin typeface="Times New Roman" panose="02020603050405020304" pitchFamily="18" charset="0"/>
                  <a:ea typeface="Arial Bold"/>
                  <a:cs typeface="Times New Roman" panose="02020603050405020304" pitchFamily="18" charset="0"/>
                  <a:sym typeface="Arial Bold"/>
                </a:rPr>
                <a:t>Challenges Faced</a:t>
              </a:r>
              <a:endParaRPr lang="en-US" sz="2200" b="1" u="sng" dirty="0"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506525" y="5370883"/>
            <a:ext cx="7284366" cy="9694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900" b="1" dirty="0" smtClean="0"/>
              <a:t>Driver Adaptation </a:t>
            </a:r>
            <a:r>
              <a:rPr lang="en-GB" sz="1900" dirty="0" smtClean="0"/>
              <a:t>– Driver Might be new to this modern UI</a:t>
            </a:r>
          </a:p>
          <a:p>
            <a:r>
              <a:rPr lang="en-GB" sz="1900" b="1" dirty="0" smtClean="0"/>
              <a:t>Rural Area Network Issues </a:t>
            </a:r>
            <a:r>
              <a:rPr lang="en-GB" sz="1900" dirty="0" smtClean="0"/>
              <a:t>– Might not work on below 2G/3G networks</a:t>
            </a:r>
          </a:p>
          <a:p>
            <a:r>
              <a:rPr lang="en-GB" sz="1900" b="1" dirty="0" smtClean="0"/>
              <a:t>ETA inaccuracy </a:t>
            </a:r>
            <a:r>
              <a:rPr lang="en-GB" sz="1900" dirty="0" smtClean="0"/>
              <a:t>– Wrong Estimated Times in Heavy Traffic</a:t>
            </a:r>
            <a:endParaRPr lang="en-IN" sz="1900" dirty="0"/>
          </a:p>
        </p:txBody>
      </p:sp>
    </p:spTree>
  </p:cSld>
  <p:clrMapOvr>
    <a:masterClrMapping/>
  </p:clrMapOvr>
  <mc:AlternateContent xmlns:mc="http://schemas.openxmlformats.org/markup-compatibility/2006">
    <mc:Choice xmlns="" xmlns:m="http://schemas.openxmlformats.org/officeDocument/2006/math" xmlns:w="http://schemas.openxmlformats.org/wordprocessingml/2006/main" xmlns:p159="http://schemas.microsoft.com/office/powerpoint/2015/09/main" xmlns:p14="http://schemas.microsoft.com/office/powerpoint/2010/main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8646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IMPACT AND BENEFITS</a:t>
            </a:r>
            <a:endParaRPr/>
          </a:p>
        </p:txBody>
      </p:sp>
      <p:sp>
        <p:nvSpPr>
          <p:cNvPr id="6615600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lang="en-US" sz="1200" b="1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ＭＳ Ｐゴシック"/>
                <a:cs typeface="+mn-cs"/>
              </a:rPr>
              <a:t>5</a:t>
            </a:fld>
            <a:endParaRPr lang="en-US" sz="1200" b="1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ＭＳ Ｐゴシック"/>
              <a:cs typeface="+mn-cs"/>
            </a:endParaRPr>
          </a:p>
        </p:txBody>
      </p:sp>
      <p:sp>
        <p:nvSpPr>
          <p:cNvPr id="1776684044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674356659" name="Oval 11" descr="Your startup LOGO"/>
          <p:cNvSpPr/>
          <p:nvPr/>
        </p:nvSpPr>
        <p:spPr bwMode="auto">
          <a:xfrm>
            <a:off x="329772" y="120207"/>
            <a:ext cx="1394907" cy="80733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NUVIRA</a:t>
            </a:r>
            <a:endParaRPr lang="en-IN"/>
          </a:p>
        </p:txBody>
      </p:sp>
      <p:pic>
        <p:nvPicPr>
          <p:cNvPr id="185599912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</p:spPr>
      </p:pic>
      <p:pic>
        <p:nvPicPr>
          <p:cNvPr id="882025876" name="Picture 882025875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922717" y="1076326"/>
            <a:ext cx="6216914" cy="536461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ADA14D15-FCE8-74D2-48B2-DC6DC05F49D3}"/>
              </a:ext>
            </a:extLst>
          </p:cNvPr>
          <p:cNvGrpSpPr/>
          <p:nvPr/>
        </p:nvGrpSpPr>
        <p:grpSpPr>
          <a:xfrm>
            <a:off x="546557" y="1076326"/>
            <a:ext cx="5236466" cy="1754620"/>
            <a:chOff x="865520" y="3040077"/>
            <a:chExt cx="8258177" cy="3615259"/>
          </a:xfrm>
        </p:grpSpPr>
        <p:sp>
          <p:nvSpPr>
            <p:cNvPr id="12" name="Freeform 10"/>
            <p:cNvSpPr/>
            <p:nvPr/>
          </p:nvSpPr>
          <p:spPr>
            <a:xfrm>
              <a:off x="865520" y="3040077"/>
              <a:ext cx="8258177" cy="3615259"/>
            </a:xfrm>
            <a:custGeom>
              <a:avLst/>
              <a:gdLst/>
              <a:ahLst/>
              <a:cxnLst/>
              <a:rect l="l" t="t" r="r" b="b"/>
              <a:pathLst>
                <a:path w="11010900" h="8060055">
                  <a:moveTo>
                    <a:pt x="19050" y="0"/>
                  </a:moveTo>
                  <a:lnTo>
                    <a:pt x="10991850" y="0"/>
                  </a:lnTo>
                  <a:cubicBezTo>
                    <a:pt x="11002391" y="0"/>
                    <a:pt x="11010900" y="8509"/>
                    <a:pt x="11010900" y="19050"/>
                  </a:cubicBezTo>
                  <a:lnTo>
                    <a:pt x="11010900" y="8041005"/>
                  </a:lnTo>
                  <a:cubicBezTo>
                    <a:pt x="11010900" y="8051547"/>
                    <a:pt x="11002391" y="8060055"/>
                    <a:pt x="10991850" y="8060055"/>
                  </a:cubicBezTo>
                  <a:lnTo>
                    <a:pt x="19050" y="8060055"/>
                  </a:lnTo>
                  <a:cubicBezTo>
                    <a:pt x="8509" y="8060055"/>
                    <a:pt x="0" y="8051547"/>
                    <a:pt x="0" y="80410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8041005"/>
                  </a:lnTo>
                  <a:lnTo>
                    <a:pt x="19050" y="8041005"/>
                  </a:lnTo>
                  <a:lnTo>
                    <a:pt x="19050" y="8021955"/>
                  </a:lnTo>
                  <a:lnTo>
                    <a:pt x="10991850" y="8021955"/>
                  </a:lnTo>
                  <a:lnTo>
                    <a:pt x="10991850" y="8041005"/>
                  </a:lnTo>
                  <a:lnTo>
                    <a:pt x="10972800" y="8041005"/>
                  </a:lnTo>
                  <a:lnTo>
                    <a:pt x="10972800" y="19050"/>
                  </a:lnTo>
                  <a:lnTo>
                    <a:pt x="10991850" y="19050"/>
                  </a:lnTo>
                  <a:lnTo>
                    <a:pt x="1099185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4A7EBB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21"/>
            <p:cNvSpPr txBox="1"/>
            <p:nvPr/>
          </p:nvSpPr>
          <p:spPr>
            <a:xfrm>
              <a:off x="1066124" y="3178522"/>
              <a:ext cx="7817569" cy="3022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200" b="1" u="sng" dirty="0" smtClean="0">
                  <a:ln w="0"/>
                  <a:latin typeface="Times New Roman" panose="02020603050405020304" pitchFamily="18" charset="0"/>
                  <a:ea typeface="Arial Bold"/>
                  <a:cs typeface="Times New Roman" panose="02020603050405020304" pitchFamily="18" charset="0"/>
                  <a:sym typeface="Arial Bold"/>
                </a:rPr>
                <a:t>IMPACT ON ALL USERS</a:t>
              </a:r>
              <a:endParaRPr lang="en-US" sz="2200" b="1" u="sng" dirty="0">
                <a:ln w="0"/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673759" y="1606408"/>
            <a:ext cx="550545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GB" sz="19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Commuters:</a:t>
            </a:r>
            <a:r>
              <a:rPr lang="en-GB" sz="19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Save time, reliable &amp; Safe travel.</a:t>
            </a: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GB" sz="19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Drivers:</a:t>
            </a:r>
            <a:r>
              <a:rPr lang="en-GB" sz="19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Better coordination.</a:t>
            </a:r>
            <a:endParaRPr lang="en-GB" sz="1900" dirty="0"/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GB" sz="1900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Govt</a:t>
            </a:r>
            <a:r>
              <a:rPr lang="en-GB" sz="19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lang="en-GB" sz="19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Data-driven planning.</a:t>
            </a:r>
            <a:endParaRPr lang="en-GB" sz="1900" dirty="0"/>
          </a:p>
          <a:p>
            <a:endParaRPr lang="en-IN" dirty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ADA14D15-FCE8-74D2-48B2-DC6DC05F49D3}"/>
              </a:ext>
            </a:extLst>
          </p:cNvPr>
          <p:cNvGrpSpPr/>
          <p:nvPr/>
        </p:nvGrpSpPr>
        <p:grpSpPr>
          <a:xfrm>
            <a:off x="534066" y="2963381"/>
            <a:ext cx="5236463" cy="3758097"/>
            <a:chOff x="865520" y="3040077"/>
            <a:chExt cx="8258177" cy="3615259"/>
          </a:xfrm>
        </p:grpSpPr>
        <p:sp>
          <p:nvSpPr>
            <p:cNvPr id="16" name="Freeform 10"/>
            <p:cNvSpPr/>
            <p:nvPr/>
          </p:nvSpPr>
          <p:spPr>
            <a:xfrm>
              <a:off x="865520" y="3040077"/>
              <a:ext cx="8258177" cy="3615259"/>
            </a:xfrm>
            <a:custGeom>
              <a:avLst/>
              <a:gdLst/>
              <a:ahLst/>
              <a:cxnLst/>
              <a:rect l="l" t="t" r="r" b="b"/>
              <a:pathLst>
                <a:path w="11010900" h="8060055">
                  <a:moveTo>
                    <a:pt x="19050" y="0"/>
                  </a:moveTo>
                  <a:lnTo>
                    <a:pt x="10991850" y="0"/>
                  </a:lnTo>
                  <a:cubicBezTo>
                    <a:pt x="11002391" y="0"/>
                    <a:pt x="11010900" y="8509"/>
                    <a:pt x="11010900" y="19050"/>
                  </a:cubicBezTo>
                  <a:lnTo>
                    <a:pt x="11010900" y="8041005"/>
                  </a:lnTo>
                  <a:cubicBezTo>
                    <a:pt x="11010900" y="8051547"/>
                    <a:pt x="11002391" y="8060055"/>
                    <a:pt x="10991850" y="8060055"/>
                  </a:cubicBezTo>
                  <a:lnTo>
                    <a:pt x="19050" y="8060055"/>
                  </a:lnTo>
                  <a:cubicBezTo>
                    <a:pt x="8509" y="8060055"/>
                    <a:pt x="0" y="8051547"/>
                    <a:pt x="0" y="80410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8041005"/>
                  </a:lnTo>
                  <a:lnTo>
                    <a:pt x="19050" y="8041005"/>
                  </a:lnTo>
                  <a:lnTo>
                    <a:pt x="19050" y="8021955"/>
                  </a:lnTo>
                  <a:lnTo>
                    <a:pt x="10991850" y="8021955"/>
                  </a:lnTo>
                  <a:lnTo>
                    <a:pt x="10991850" y="8041005"/>
                  </a:lnTo>
                  <a:lnTo>
                    <a:pt x="10972800" y="8041005"/>
                  </a:lnTo>
                  <a:lnTo>
                    <a:pt x="10972800" y="19050"/>
                  </a:lnTo>
                  <a:lnTo>
                    <a:pt x="10991850" y="19050"/>
                  </a:lnTo>
                  <a:lnTo>
                    <a:pt x="1099185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4A7EBB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21"/>
            <p:cNvSpPr txBox="1"/>
            <p:nvPr/>
          </p:nvSpPr>
          <p:spPr>
            <a:xfrm>
              <a:off x="2742668" y="3178521"/>
              <a:ext cx="4503874" cy="44411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200" b="1" u="sng" dirty="0" smtClean="0">
                  <a:latin typeface="Times New Roman" panose="02020603050405020304" pitchFamily="18" charset="0"/>
                  <a:ea typeface="Arial Bold"/>
                  <a:cs typeface="Times New Roman" panose="02020603050405020304" pitchFamily="18" charset="0"/>
                  <a:sym typeface="Arial Bold"/>
                </a:rPr>
                <a:t>Business Potentials</a:t>
              </a: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673760" y="3590862"/>
            <a:ext cx="495707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GB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Scalable Product</a:t>
            </a:r>
            <a:r>
              <a:rPr lang="en-GB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– Once developed, the same system can be replicated to hundreds of cities with minimal changes.</a:t>
            </a: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GB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 as a Service</a:t>
            </a:r>
            <a:r>
              <a:rPr lang="en-GB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– Provide valuable transport analytics to government bodies for planning new routes and reducing congestion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GB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In-App Revenue</a:t>
            </a:r>
            <a:r>
              <a:rPr lang="en-GB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– Ads from local </a:t>
            </a:r>
            <a:r>
              <a:rPr lang="en-GB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businesses (shops</a:t>
            </a:r>
            <a:r>
              <a:rPr lang="en-GB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hospitals, services near bus stops).</a:t>
            </a:r>
            <a:endParaRPr lang="en-GB" sz="3200" b="1" u="sng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="" xmlns:m="http://schemas.openxmlformats.org/officeDocument/2006/math" xmlns:w="http://schemas.openxmlformats.org/wordprocessingml/2006/main" xmlns:p159="http://schemas.microsoft.com/office/powerpoint/2015/09/main" xmlns:p14="http://schemas.microsoft.com/office/powerpoint/2010/main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06598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RESEARCH  AND REFERENCES</a:t>
            </a:r>
            <a:endParaRPr/>
          </a:p>
        </p:txBody>
      </p:sp>
      <p:sp>
        <p:nvSpPr>
          <p:cNvPr id="1463554623" name="Oval 8" descr="Your startup LOGO"/>
          <p:cNvSpPr/>
          <p:nvPr/>
        </p:nvSpPr>
        <p:spPr bwMode="auto">
          <a:xfrm>
            <a:off x="329772" y="252245"/>
            <a:ext cx="1455705" cy="80733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NUVIRA</a:t>
            </a:r>
            <a:endParaRPr lang="en-IN"/>
          </a:p>
        </p:txBody>
      </p:sp>
      <p:pic>
        <p:nvPicPr>
          <p:cNvPr id="172626515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329772" y="1787907"/>
            <a:ext cx="483277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Khan, M. A., et al., </a:t>
            </a:r>
            <a:r>
              <a:rPr lang="en-US" b="1" dirty="0">
                <a:ea typeface="Calibri"/>
                <a:cs typeface="Calibri"/>
              </a:rPr>
              <a:t>"GPS and GSM Based Bus Tracking," </a:t>
            </a:r>
            <a:r>
              <a:rPr lang="en-US" dirty="0">
                <a:ea typeface="Calibri"/>
                <a:cs typeface="Calibri"/>
              </a:rPr>
              <a:t>IEEE International Conference on Communication and Signal Processing (ICCSN), </a:t>
            </a:r>
            <a:r>
              <a:rPr lang="en-US" dirty="0" smtClean="0">
                <a:ea typeface="Calibri"/>
                <a:cs typeface="Calibri"/>
              </a:rPr>
              <a:t>2016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Link - </a:t>
            </a:r>
            <a:r>
              <a:rPr lang="en-US" dirty="0">
                <a:ea typeface="Calibri"/>
                <a:cs typeface="Calibri"/>
                <a:hlinkClick r:id="rId4"/>
              </a:rPr>
              <a:t>https://</a:t>
            </a:r>
            <a:r>
              <a:rPr lang="en-US" dirty="0" smtClean="0">
                <a:ea typeface="Calibri"/>
                <a:cs typeface="Calibri"/>
                <a:hlinkClick r:id="rId4"/>
              </a:rPr>
              <a:t>www.ijert.org/gps-and-gsm-based-real-time-bus-monitoring-system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ea typeface="Calibri"/>
                <a:cs typeface="Calibri"/>
              </a:rPr>
              <a:t>Carol L. </a:t>
            </a:r>
            <a:r>
              <a:rPr lang="en-US" dirty="0" err="1">
                <a:ea typeface="Calibri"/>
                <a:cs typeface="Calibri"/>
              </a:rPr>
              <a:t>Schweiger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b="1" dirty="0">
                <a:ea typeface="Calibri"/>
                <a:cs typeface="Calibri"/>
              </a:rPr>
              <a:t>“Real-Time Bus Arrival Information Systems - A Synthesis of Transit </a:t>
            </a:r>
            <a:r>
              <a:rPr lang="en-US" b="1" dirty="0" err="1">
                <a:ea typeface="Calibri"/>
                <a:cs typeface="Calibri"/>
              </a:rPr>
              <a:t>Practice”</a:t>
            </a:r>
            <a:r>
              <a:rPr lang="en-US" dirty="0" err="1">
                <a:ea typeface="Calibri"/>
                <a:cs typeface="Calibri"/>
              </a:rPr>
              <a:t>Transportation</a:t>
            </a:r>
            <a:r>
              <a:rPr lang="en-US" dirty="0">
                <a:ea typeface="Calibri"/>
                <a:cs typeface="Calibri"/>
              </a:rPr>
              <a:t> Research Board, </a:t>
            </a:r>
            <a:r>
              <a:rPr lang="en-US" dirty="0" smtClean="0">
                <a:ea typeface="Calibri"/>
                <a:cs typeface="Calibri"/>
              </a:rPr>
              <a:t>2003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cs typeface="Calibri"/>
              </a:rPr>
              <a:t>Link - https://onlinepubs.trb.org/onlinepubs/tcrp/tcrp_syn_48.pdf</a:t>
            </a:r>
            <a:endParaRPr lang="en-IN" dirty="0"/>
          </a:p>
        </p:txBody>
      </p: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ADA14D15-FCE8-74D2-48B2-DC6DC05F49D3}"/>
              </a:ext>
            </a:extLst>
          </p:cNvPr>
          <p:cNvGrpSpPr/>
          <p:nvPr/>
        </p:nvGrpSpPr>
        <p:grpSpPr>
          <a:xfrm>
            <a:off x="329772" y="1210665"/>
            <a:ext cx="4832778" cy="4270561"/>
            <a:chOff x="865520" y="3040077"/>
            <a:chExt cx="8258177" cy="3615259"/>
          </a:xfrm>
        </p:grpSpPr>
        <p:sp>
          <p:nvSpPr>
            <p:cNvPr id="11" name="Freeform 10"/>
            <p:cNvSpPr/>
            <p:nvPr/>
          </p:nvSpPr>
          <p:spPr>
            <a:xfrm>
              <a:off x="865520" y="3040077"/>
              <a:ext cx="8258177" cy="3615259"/>
            </a:xfrm>
            <a:custGeom>
              <a:avLst/>
              <a:gdLst/>
              <a:ahLst/>
              <a:cxnLst/>
              <a:rect l="l" t="t" r="r" b="b"/>
              <a:pathLst>
                <a:path w="11010900" h="8060055">
                  <a:moveTo>
                    <a:pt x="19050" y="0"/>
                  </a:moveTo>
                  <a:lnTo>
                    <a:pt x="10991850" y="0"/>
                  </a:lnTo>
                  <a:cubicBezTo>
                    <a:pt x="11002391" y="0"/>
                    <a:pt x="11010900" y="8509"/>
                    <a:pt x="11010900" y="19050"/>
                  </a:cubicBezTo>
                  <a:lnTo>
                    <a:pt x="11010900" y="8041005"/>
                  </a:lnTo>
                  <a:cubicBezTo>
                    <a:pt x="11010900" y="8051547"/>
                    <a:pt x="11002391" y="8060055"/>
                    <a:pt x="10991850" y="8060055"/>
                  </a:cubicBezTo>
                  <a:lnTo>
                    <a:pt x="19050" y="8060055"/>
                  </a:lnTo>
                  <a:cubicBezTo>
                    <a:pt x="8509" y="8060055"/>
                    <a:pt x="0" y="8051547"/>
                    <a:pt x="0" y="80410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8041005"/>
                  </a:lnTo>
                  <a:lnTo>
                    <a:pt x="19050" y="8041005"/>
                  </a:lnTo>
                  <a:lnTo>
                    <a:pt x="19050" y="8021955"/>
                  </a:lnTo>
                  <a:lnTo>
                    <a:pt x="10991850" y="8021955"/>
                  </a:lnTo>
                  <a:lnTo>
                    <a:pt x="10991850" y="8041005"/>
                  </a:lnTo>
                  <a:lnTo>
                    <a:pt x="10972800" y="8041005"/>
                  </a:lnTo>
                  <a:lnTo>
                    <a:pt x="10972800" y="19050"/>
                  </a:lnTo>
                  <a:lnTo>
                    <a:pt x="10991850" y="19050"/>
                  </a:lnTo>
                  <a:lnTo>
                    <a:pt x="10991850" y="38100"/>
                  </a:lnTo>
                  <a:lnTo>
                    <a:pt x="19050" y="38100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Box 21"/>
            <p:cNvSpPr txBox="1"/>
            <p:nvPr/>
          </p:nvSpPr>
          <p:spPr>
            <a:xfrm>
              <a:off x="2742668" y="3178521"/>
              <a:ext cx="4503874" cy="46395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200" b="1" u="sng" dirty="0" smtClean="0">
                  <a:latin typeface="Times New Roman" panose="02020603050405020304" pitchFamily="18" charset="0"/>
                  <a:ea typeface="Arial Bold"/>
                  <a:cs typeface="Times New Roman" panose="02020603050405020304" pitchFamily="18" charset="0"/>
                  <a:sym typeface="Arial Bold"/>
                </a:rPr>
                <a:t>REFERENCES</a:t>
              </a:r>
              <a:endParaRPr lang="en-US" sz="2200" b="1" u="sng" dirty="0"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endParaRPr>
            </a:p>
          </p:txBody>
        </p:sp>
      </p:grp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669817"/>
              </p:ext>
            </p:extLst>
          </p:nvPr>
        </p:nvGraphicFramePr>
        <p:xfrm>
          <a:off x="5416964" y="1577511"/>
          <a:ext cx="6633522" cy="408862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137722"/>
                <a:gridCol w="2284626"/>
                <a:gridCol w="2211174"/>
              </a:tblGrid>
              <a:tr h="52975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smtClean="0"/>
                        <a:t>Features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smtClean="0"/>
                        <a:t>TSRTC </a:t>
                      </a:r>
                      <a:r>
                        <a:rPr lang="en-GB" sz="2400" dirty="0" err="1" smtClean="0"/>
                        <a:t>Gamyam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smtClean="0"/>
                        <a:t>Smart - Bus</a:t>
                      </a:r>
                      <a:endParaRPr lang="en-IN" sz="2400" b="1" dirty="0"/>
                    </a:p>
                  </a:txBody>
                  <a:tcPr/>
                </a:tc>
              </a:tr>
              <a:tr h="529754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Live Bus Tracking 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 smtClean="0"/>
                        <a:t>✔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 smtClean="0"/>
                        <a:t>✔</a:t>
                      </a:r>
                      <a:endParaRPr lang="en-IN" sz="2800" dirty="0" smtClean="0"/>
                    </a:p>
                  </a:txBody>
                  <a:tcPr/>
                </a:tc>
              </a:tr>
              <a:tr h="656435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Estimated Arrival</a:t>
                      </a:r>
                      <a:r>
                        <a:rPr lang="en-GB" sz="2000" baseline="0" dirty="0" smtClean="0"/>
                        <a:t> Time (ETA)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 smtClean="0"/>
                        <a:t>✔</a:t>
                      </a:r>
                      <a:endParaRPr lang="en-IN" sz="2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 smtClean="0"/>
                        <a:t>✔</a:t>
                      </a:r>
                      <a:endParaRPr lang="en-IN" sz="2800" dirty="0" smtClean="0"/>
                    </a:p>
                  </a:txBody>
                  <a:tcPr/>
                </a:tc>
              </a:tr>
              <a:tr h="529754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Bus Routes Search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 smtClean="0"/>
                        <a:t>✔</a:t>
                      </a:r>
                      <a:endParaRPr lang="en-IN" sz="2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 smtClean="0"/>
                        <a:t>✔</a:t>
                      </a:r>
                      <a:endParaRPr lang="en-IN" sz="2800" dirty="0" smtClean="0"/>
                    </a:p>
                  </a:txBody>
                  <a:tcPr/>
                </a:tc>
              </a:tr>
              <a:tr h="742056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SOS / Emergency 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smtClean="0"/>
                        <a:t>❌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 smtClean="0"/>
                        <a:t>✔</a:t>
                      </a:r>
                      <a:endParaRPr lang="en-IN" sz="2800" dirty="0" smtClean="0"/>
                    </a:p>
                    <a:p>
                      <a:endParaRPr lang="en-IN" dirty="0"/>
                    </a:p>
                  </a:txBody>
                  <a:tcPr/>
                </a:tc>
              </a:tr>
              <a:tr h="599353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Admin Analytics</a:t>
                      </a:r>
                      <a:r>
                        <a:rPr lang="en-GB" baseline="0" dirty="0" smtClean="0"/>
                        <a:t> </a:t>
                      </a:r>
                      <a:r>
                        <a:rPr lang="en-GB" baseline="0" dirty="0" err="1" smtClean="0"/>
                        <a:t>DashBoard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smtClean="0"/>
                        <a:t>❌</a:t>
                      </a:r>
                      <a:endParaRPr lang="en-IN" sz="2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 smtClean="0"/>
                        <a:t>✔</a:t>
                      </a:r>
                      <a:endParaRPr lang="en-IN" sz="2800" dirty="0" smtClean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16964" y="1095375"/>
            <a:ext cx="4400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u="sng" dirty="0" err="1" smtClean="0"/>
              <a:t>Comparision</a:t>
            </a:r>
            <a:r>
              <a:rPr lang="en-GB" sz="2400" b="1" u="sng" dirty="0" smtClean="0"/>
              <a:t> With Popular Apps</a:t>
            </a:r>
            <a:endParaRPr lang="en-IN" sz="2400" b="1" u="sng" dirty="0"/>
          </a:p>
        </p:txBody>
      </p:sp>
      <p:sp>
        <p:nvSpPr>
          <p:cNvPr id="7" name="TextBox 6"/>
          <p:cNvSpPr txBox="1"/>
          <p:nvPr/>
        </p:nvSpPr>
        <p:spPr>
          <a:xfrm>
            <a:off x="375556" y="5596516"/>
            <a:ext cx="114408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 smtClean="0"/>
              <a:t>Demo Link </a:t>
            </a:r>
            <a:r>
              <a:rPr lang="en-GB" dirty="0"/>
              <a:t>- </a:t>
            </a:r>
            <a:r>
              <a:rPr lang="en-GB" dirty="0">
                <a:hlinkClick r:id="rId5"/>
              </a:rPr>
              <a:t>https://</a:t>
            </a:r>
            <a:r>
              <a:rPr lang="en-GB" dirty="0" smtClean="0">
                <a:hlinkClick r:id="rId5"/>
              </a:rPr>
              <a:t>smartbus-transport.netlify.app</a:t>
            </a:r>
            <a:endParaRPr lang="en-GB" dirty="0" smtClean="0"/>
          </a:p>
          <a:p>
            <a:r>
              <a:rPr lang="en-GB" dirty="0" smtClean="0"/>
              <a:t>(</a:t>
            </a:r>
            <a:r>
              <a:rPr lang="en-GB" b="1" dirty="0" smtClean="0"/>
              <a:t>NOTE</a:t>
            </a:r>
            <a:r>
              <a:rPr lang="en-GB" dirty="0" smtClean="0"/>
              <a:t> – This is only a </a:t>
            </a:r>
            <a:r>
              <a:rPr lang="en-GB" b="1" dirty="0" smtClean="0"/>
              <a:t>demo</a:t>
            </a:r>
            <a:r>
              <a:rPr lang="en-GB" dirty="0" smtClean="0"/>
              <a:t> of how our app “might” look like …it demonstrates the UI and flow. Backend integration</a:t>
            </a:r>
          </a:p>
          <a:p>
            <a:r>
              <a:rPr lang="en-GB" dirty="0" smtClean="0"/>
              <a:t>And Live tracking and API &amp; AI integration will be connected in the later implementation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="" xmlns:m="http://schemas.openxmlformats.org/officeDocument/2006/math" xmlns:w="http://schemas.openxmlformats.org/wordprocessingml/2006/main" xmlns:p159="http://schemas.microsoft.com/office/powerpoint/2015/09/main" xmlns:p14="http://schemas.microsoft.com/office/powerpoint/2010/main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536</Words>
  <Application>Microsoft Office PowerPoint</Application>
  <PresentationFormat>Widescreen</PresentationFormat>
  <Paragraphs>103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Arial Bold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SMART – BUS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user</cp:lastModifiedBy>
  <cp:revision>164</cp:revision>
  <dcterms:created xsi:type="dcterms:W3CDTF">2013-12-12T18:46:50Z</dcterms:created>
  <dcterms:modified xsi:type="dcterms:W3CDTF">2025-09-19T02:43:26Z</dcterms:modified>
  <cp:category/>
</cp:coreProperties>
</file>